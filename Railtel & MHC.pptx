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.jpeg"/><Relationship Id="rId5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9.png"/><Relationship Id="rId7" Type="http://schemas.openxmlformats.org/officeDocument/2006/relationships/image" Target="../media/image130.png"/><Relationship Id="rId8" Type="http://schemas.openxmlformats.org/officeDocument/2006/relationships/image" Target="../media/image131.png"/><Relationship Id="rId9" Type="http://schemas.openxmlformats.org/officeDocument/2006/relationships/image" Target="../media/image132.png"/><Relationship Id="rId10" Type="http://schemas.openxmlformats.org/officeDocument/2006/relationships/image" Target="../media/image133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Relationship Id="rId9" Type="http://schemas.openxmlformats.org/officeDocument/2006/relationships/image" Target="../media/image141.png"/><Relationship Id="rId10" Type="http://schemas.openxmlformats.org/officeDocument/2006/relationships/image" Target="../media/image142.png"/><Relationship Id="rId11" Type="http://schemas.openxmlformats.org/officeDocument/2006/relationships/image" Target="../media/image143.png"/><Relationship Id="rId12" Type="http://schemas.openxmlformats.org/officeDocument/2006/relationships/image" Target="../media/image144.png"/><Relationship Id="rId13" Type="http://schemas.openxmlformats.org/officeDocument/2006/relationships/image" Target="../media/image145.png"/><Relationship Id="rId14" Type="http://schemas.openxmlformats.org/officeDocument/2006/relationships/image" Target="../media/image146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png"/><Relationship Id="rId3" Type="http://schemas.openxmlformats.org/officeDocument/2006/relationships/image" Target="../media/image14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647848"/>
            <a:ext cx="1000125" cy="666751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3"/>
          <p:cNvSpPr txBox="1"/>
          <p:nvPr/>
        </p:nvSpPr>
        <p:spPr>
          <a:xfrm>
            <a:off x="571500" y="1695598"/>
            <a:ext cx="5550693" cy="175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600"/>
              </a:lnSpc>
              <a:defRPr b="1" sz="42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pPr>
            <a:r>
              <a:rPr>
                <a:solidFill>
                  <a:srgbClr val="000000"/>
                </a:solidFill>
              </a:rPr>
              <a:t>Enabling</a:t>
            </a:r>
            <a:r>
              <a:t> </a:t>
            </a:r>
            <a:r>
              <a:rPr>
                <a:solidFill>
                  <a:srgbClr val="000000"/>
                </a:solidFill>
              </a:rPr>
              <a:t>the</a:t>
            </a:r>
            <a:r>
              <a:t> </a:t>
            </a:r>
            <a:r>
              <a:rPr>
                <a:solidFill>
                  <a:srgbClr val="000000"/>
                </a:solidFill>
              </a:rPr>
              <a:t>Next</a:t>
            </a:r>
            <a:r>
              <a:t> </a:t>
            </a:r>
            <a:r>
              <a:rPr>
                <a:solidFill>
                  <a:srgbClr val="000000"/>
                </a:solidFill>
              </a:rPr>
              <a:t>Generation of</a:t>
            </a:r>
            <a:r>
              <a:t> </a:t>
            </a:r>
            <a:r>
              <a:rPr>
                <a:solidFill>
                  <a:srgbClr val="000000"/>
                </a:solidFill>
              </a:rPr>
              <a:t>Digital Judiciary </a:t>
            </a:r>
          </a:p>
        </p:txBody>
      </p:sp>
      <p:sp>
        <p:nvSpPr>
          <p:cNvPr id="96" name="TextBox 4"/>
          <p:cNvSpPr txBox="1"/>
          <p:nvPr/>
        </p:nvSpPr>
        <p:spPr>
          <a:xfrm>
            <a:off x="571500" y="3693764"/>
            <a:ext cx="5286375" cy="864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300"/>
              </a:lnSpc>
              <a:defRPr b="1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A Comprehensive Digital Court, Paperless Workflow &amp; Technology Infrastructure Solution for Mumbai High Court</a:t>
            </a:r>
          </a:p>
        </p:txBody>
      </p:sp>
      <p:sp>
        <p:nvSpPr>
          <p:cNvPr id="97" name="TextBox 5"/>
          <p:cNvSpPr txBox="1"/>
          <p:nvPr/>
        </p:nvSpPr>
        <p:spPr>
          <a:xfrm>
            <a:off x="571500" y="4954785"/>
            <a:ext cx="5286375" cy="400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b="1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RailTel Corporation of India Limited</a:t>
            </a:r>
            <a:endParaRPr b="0"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ts val="1600"/>
              </a:lnSpc>
              <a:defRPr b="1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 b="0"/>
              <a:t> A Navratna CPSE under the Ministry of Railways, Government of India*</a:t>
            </a:r>
          </a:p>
        </p:txBody>
      </p:sp>
      <p:sp>
        <p:nvSpPr>
          <p:cNvPr id="98" name="TextBox 6"/>
          <p:cNvSpPr txBox="1"/>
          <p:nvPr/>
        </p:nvSpPr>
        <p:spPr>
          <a:xfrm>
            <a:off x="714375" y="5809951"/>
            <a:ext cx="5143500" cy="241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b="1" i="1" sz="13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From Digital Records to Digital Justice</a:t>
            </a:r>
          </a:p>
        </p:txBody>
      </p:sp>
      <p:sp>
        <p:nvSpPr>
          <p:cNvPr id="99" name="Rectangle 7"/>
          <p:cNvSpPr/>
          <p:nvPr/>
        </p:nvSpPr>
        <p:spPr>
          <a:xfrm>
            <a:off x="571500" y="5809951"/>
            <a:ext cx="38100" cy="257176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00" name="WhatsApp Image 2026-08-27 at 12.43.19 PM.jpeg" descr="WhatsApp Image 2026-08-27 at 12.43.19 PM.jpeg"/>
          <p:cNvPicPr>
            <a:picLocks noChangeAspect="1"/>
          </p:cNvPicPr>
          <p:nvPr/>
        </p:nvPicPr>
        <p:blipFill>
          <a:blip r:embed="rId3">
            <a:alphaModFix amt="35846"/>
            <a:extLst/>
          </a:blip>
          <a:stretch>
            <a:fillRect/>
          </a:stretch>
        </p:blipFill>
        <p:spPr>
          <a:xfrm>
            <a:off x="-4921244" y="-27661"/>
            <a:ext cx="22034488" cy="69133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5353050"/>
            <a:ext cx="5286375" cy="1181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34125" y="2057400"/>
            <a:ext cx="5286375" cy="3810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Box 3"/>
          <p:cNvSpPr txBox="1"/>
          <p:nvPr/>
        </p:nvSpPr>
        <p:spPr>
          <a:xfrm>
            <a:off x="571500" y="1390650"/>
            <a:ext cx="5286375" cy="326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b="1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A judiciary where:</a:t>
            </a:r>
          </a:p>
        </p:txBody>
      </p:sp>
      <p:sp>
        <p:nvSpPr>
          <p:cNvPr id="105" name="TextBox 4"/>
          <p:cNvSpPr txBox="1"/>
          <p:nvPr/>
        </p:nvSpPr>
        <p:spPr>
          <a:xfrm>
            <a:off x="809625" y="5543550"/>
            <a:ext cx="4857750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Target Architecture</a:t>
            </a:r>
          </a:p>
        </p:txBody>
      </p:sp>
      <p:sp>
        <p:nvSpPr>
          <p:cNvPr id="106" name="TextBox 5"/>
          <p:cNvSpPr txBox="1"/>
          <p:nvPr/>
        </p:nvSpPr>
        <p:spPr>
          <a:xfrm>
            <a:off x="809625" y="5829300"/>
            <a:ext cx="4857750" cy="495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A connected, paperless, secure and future-ready digital judiciary ecosystem.</a:t>
            </a:r>
          </a:p>
        </p:txBody>
      </p:sp>
      <p:pic>
        <p:nvPicPr>
          <p:cNvPr id="107" name="mumbai-india-january-queen-victoria-s-statue-outside-high-court-mumbai-high-court-gardens-114935620.jpeg" descr="mumbai-india-january-queen-victoria-s-statue-outside-high-court-mumbai-high-court-gardens-114935620.jpeg"/>
          <p:cNvPicPr>
            <a:picLocks noChangeAspect="1"/>
          </p:cNvPicPr>
          <p:nvPr/>
        </p:nvPicPr>
        <p:blipFill>
          <a:blip r:embed="rId4">
            <a:extLst/>
          </a:blip>
          <a:srcRect l="0" t="0" r="0" b="24565"/>
          <a:stretch>
            <a:fillRect/>
          </a:stretch>
        </p:blipFill>
        <p:spPr>
          <a:xfrm>
            <a:off x="6836563" y="1432836"/>
            <a:ext cx="4725534" cy="4602908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TextBox 7"/>
          <p:cNvSpPr txBox="1"/>
          <p:nvPr/>
        </p:nvSpPr>
        <p:spPr>
          <a:xfrm>
            <a:off x="1000125" y="2019300"/>
            <a:ext cx="4857750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Every Case</a:t>
            </a:r>
            <a:r>
              <a:rPr b="0">
                <a:solidFill>
                  <a:srgbClr val="334155"/>
                </a:solidFill>
              </a:rPr>
              <a:t> is Digital</a:t>
            </a:r>
          </a:p>
        </p:txBody>
      </p:sp>
      <p:sp>
        <p:nvSpPr>
          <p:cNvPr id="109" name="TextBox 8"/>
          <p:cNvSpPr txBox="1"/>
          <p:nvPr/>
        </p:nvSpPr>
        <p:spPr>
          <a:xfrm>
            <a:off x="1000125" y="2543175"/>
            <a:ext cx="4857750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Every File</a:t>
            </a:r>
            <a:r>
              <a:rPr b="0">
                <a:solidFill>
                  <a:srgbClr val="334155"/>
                </a:solidFill>
              </a:rPr>
              <a:t> is Traceable</a:t>
            </a:r>
          </a:p>
        </p:txBody>
      </p:sp>
      <p:sp>
        <p:nvSpPr>
          <p:cNvPr id="110" name="TextBox 9"/>
          <p:cNvSpPr txBox="1"/>
          <p:nvPr/>
        </p:nvSpPr>
        <p:spPr>
          <a:xfrm>
            <a:off x="1000125" y="3067050"/>
            <a:ext cx="4857750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Every Document</a:t>
            </a:r>
            <a:r>
              <a:rPr b="0">
                <a:solidFill>
                  <a:srgbClr val="334155"/>
                </a:solidFill>
              </a:rPr>
              <a:t> is Accessible</a:t>
            </a:r>
          </a:p>
        </p:txBody>
      </p:sp>
      <p:sp>
        <p:nvSpPr>
          <p:cNvPr id="111" name="TextBox 10"/>
          <p:cNvSpPr txBox="1"/>
          <p:nvPr/>
        </p:nvSpPr>
        <p:spPr>
          <a:xfrm>
            <a:off x="1000125" y="3590925"/>
            <a:ext cx="4857750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Every Workflow</a:t>
            </a:r>
            <a:r>
              <a:rPr b="0">
                <a:solidFill>
                  <a:srgbClr val="334155"/>
                </a:solidFill>
              </a:rPr>
              <a:t> is Accountable</a:t>
            </a:r>
          </a:p>
        </p:txBody>
      </p:sp>
      <p:sp>
        <p:nvSpPr>
          <p:cNvPr id="112" name="TextBox 11"/>
          <p:cNvSpPr txBox="1"/>
          <p:nvPr/>
        </p:nvSpPr>
        <p:spPr>
          <a:xfrm>
            <a:off x="1000125" y="4114800"/>
            <a:ext cx="4857750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Every System</a:t>
            </a:r>
            <a:r>
              <a:rPr b="0">
                <a:solidFill>
                  <a:srgbClr val="334155"/>
                </a:solidFill>
              </a:rPr>
              <a:t> is Connected</a:t>
            </a:r>
          </a:p>
        </p:txBody>
      </p:sp>
      <p:sp>
        <p:nvSpPr>
          <p:cNvPr id="113" name="TextBox 12"/>
          <p:cNvSpPr txBox="1"/>
          <p:nvPr/>
        </p:nvSpPr>
        <p:spPr>
          <a:xfrm>
            <a:off x="1000125" y="4638675"/>
            <a:ext cx="4857750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Every Critical Service</a:t>
            </a:r>
            <a:r>
              <a:rPr b="0">
                <a:solidFill>
                  <a:srgbClr val="334155"/>
                </a:solidFill>
              </a:rPr>
              <a:t> is Secure</a:t>
            </a:r>
          </a:p>
        </p:txBody>
      </p:sp>
      <p:pic>
        <p:nvPicPr>
          <p:cNvPr id="114" name="Picture 13" descr="Picture 1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2033586"/>
            <a:ext cx="219075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icture 14" descr="Picture 1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2557461"/>
            <a:ext cx="219075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Picture 15" descr="Picture 1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3081336"/>
            <a:ext cx="219075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Picture 16" descr="Picture 1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3605212"/>
            <a:ext cx="219075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Picture 17" descr="Picture 1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4129087"/>
            <a:ext cx="219075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Picture 18" descr="Picture 1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4652962"/>
            <a:ext cx="219075" cy="257176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TextBox 19"/>
          <p:cNvSpPr txBox="1"/>
          <p:nvPr/>
        </p:nvSpPr>
        <p:spPr>
          <a:xfrm>
            <a:off x="571500" y="32385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Our Vision for Mumbai High Court</a:t>
            </a:r>
          </a:p>
        </p:txBody>
      </p:sp>
      <p:sp>
        <p:nvSpPr>
          <p:cNvPr id="121" name="Rectangle 20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1385887"/>
            <a:ext cx="11049000" cy="5248276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24" name="Table 2"/>
          <p:cNvGraphicFramePr/>
          <p:nvPr/>
        </p:nvGraphicFramePr>
        <p:xfrm>
          <a:off x="581025" y="1395412"/>
          <a:ext cx="11029950" cy="522922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308895"/>
                <a:gridCol w="7721054"/>
              </a:tblGrid>
              <a:tr h="65365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Operational Layer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RailTel Capability &amp; Solution Offerings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4B87"/>
                    </a:solidFill>
                  </a:tcPr>
                </a:tc>
              </a:tr>
              <a:tr h="6536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🏛 Judicial Applications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e-Filing, Digital Court, Case Management, e-Diary, e-Inspection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6536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📄 Digital Workflow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File Movement, e-Office, Digital Records, Paperless Court Module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</a:tr>
              <a:tr h="6536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🗄 Data &amp; Registry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Document Management System (DMS), Repository, Scrutiny, Defect Management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6536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🌐 Network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LAN, WAN, MPLS, SD-WAN, Secure Internet, Wi-Fi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</a:tr>
              <a:tr h="6536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🏢 Infrastructure &amp; Cloud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Centre, Cloud Hosting, Servers, Secure Storage Architecture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6536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🔐 Continuity &amp; Security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Disaster Recovery (DR), Backup, SOC, SIEM, Firewall, VAPT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</a:tr>
              <a:tr h="65365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🛠 Operations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Managed Services, Implementation, Migration, Helpdesk, L1/L2/L3 Support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5" name="Rectangle 3"/>
          <p:cNvSpPr/>
          <p:nvPr/>
        </p:nvSpPr>
        <p:spPr>
          <a:xfrm>
            <a:off x="581025" y="2084387"/>
            <a:ext cx="3308895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Rectangle 4"/>
          <p:cNvSpPr/>
          <p:nvPr/>
        </p:nvSpPr>
        <p:spPr>
          <a:xfrm>
            <a:off x="3889919" y="2084387"/>
            <a:ext cx="7721056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Rectangle 5"/>
          <p:cNvSpPr/>
          <p:nvPr/>
        </p:nvSpPr>
        <p:spPr>
          <a:xfrm>
            <a:off x="581025" y="2732087"/>
            <a:ext cx="3308895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Rectangle 6"/>
          <p:cNvSpPr/>
          <p:nvPr/>
        </p:nvSpPr>
        <p:spPr>
          <a:xfrm>
            <a:off x="3889919" y="2732087"/>
            <a:ext cx="7721056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Rectangle 7"/>
          <p:cNvSpPr/>
          <p:nvPr/>
        </p:nvSpPr>
        <p:spPr>
          <a:xfrm>
            <a:off x="581025" y="3379787"/>
            <a:ext cx="3308895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Rectangle 8"/>
          <p:cNvSpPr/>
          <p:nvPr/>
        </p:nvSpPr>
        <p:spPr>
          <a:xfrm>
            <a:off x="3889919" y="3379787"/>
            <a:ext cx="7721056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Rectangle 9"/>
          <p:cNvSpPr/>
          <p:nvPr/>
        </p:nvSpPr>
        <p:spPr>
          <a:xfrm>
            <a:off x="581025" y="4027487"/>
            <a:ext cx="3308895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Rectangle 10"/>
          <p:cNvSpPr/>
          <p:nvPr/>
        </p:nvSpPr>
        <p:spPr>
          <a:xfrm>
            <a:off x="3889919" y="4027487"/>
            <a:ext cx="7721056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Rectangle 11"/>
          <p:cNvSpPr/>
          <p:nvPr/>
        </p:nvSpPr>
        <p:spPr>
          <a:xfrm>
            <a:off x="581025" y="4675187"/>
            <a:ext cx="3308895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Rectangle 12"/>
          <p:cNvSpPr/>
          <p:nvPr/>
        </p:nvSpPr>
        <p:spPr>
          <a:xfrm>
            <a:off x="3889919" y="4675187"/>
            <a:ext cx="7721056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Rectangle 13"/>
          <p:cNvSpPr/>
          <p:nvPr/>
        </p:nvSpPr>
        <p:spPr>
          <a:xfrm>
            <a:off x="581025" y="5322887"/>
            <a:ext cx="3308895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Rectangle 14"/>
          <p:cNvSpPr/>
          <p:nvPr/>
        </p:nvSpPr>
        <p:spPr>
          <a:xfrm>
            <a:off x="3889919" y="5322887"/>
            <a:ext cx="7721056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Rectangle 15"/>
          <p:cNvSpPr/>
          <p:nvPr/>
        </p:nvSpPr>
        <p:spPr>
          <a:xfrm>
            <a:off x="581025" y="5970587"/>
            <a:ext cx="3308895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Rectangle 16"/>
          <p:cNvSpPr/>
          <p:nvPr/>
        </p:nvSpPr>
        <p:spPr>
          <a:xfrm>
            <a:off x="3889919" y="5970587"/>
            <a:ext cx="7721056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17"/>
          <p:cNvSpPr txBox="1"/>
          <p:nvPr/>
        </p:nvSpPr>
        <p:spPr>
          <a:xfrm>
            <a:off x="571500" y="223836"/>
            <a:ext cx="1160145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What RailTel Brings: The Complete Stack</a:t>
            </a:r>
          </a:p>
        </p:txBody>
      </p:sp>
      <p:sp>
        <p:nvSpPr>
          <p:cNvPr id="140" name="Rectangle 18"/>
          <p:cNvSpPr/>
          <p:nvPr/>
        </p:nvSpPr>
        <p:spPr>
          <a:xfrm>
            <a:off x="571500" y="890587"/>
            <a:ext cx="11049000" cy="19051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5619750" y="2486025"/>
            <a:ext cx="952500" cy="47625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2"/>
          <p:cNvSpPr txBox="1"/>
          <p:nvPr/>
        </p:nvSpPr>
        <p:spPr>
          <a:xfrm>
            <a:off x="1350406" y="2819400"/>
            <a:ext cx="9491186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48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RailTel Judiciary Credentials</a:t>
            </a:r>
          </a:p>
        </p:txBody>
      </p:sp>
      <p:sp>
        <p:nvSpPr>
          <p:cNvPr id="144" name="TextBox 3"/>
          <p:cNvSpPr txBox="1"/>
          <p:nvPr/>
        </p:nvSpPr>
        <p:spPr>
          <a:xfrm>
            <a:off x="2286000" y="3914775"/>
            <a:ext cx="7620000" cy="718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900"/>
              </a:lnSpc>
              <a:defRPr sz="19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Proven digital transformation and ICT infrastructure deployments across the Indian judicial landscape.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2847975"/>
            <a:ext cx="5286375" cy="26384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34125" y="2847975"/>
            <a:ext cx="5286375" cy="2638425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TextBox 4"/>
          <p:cNvSpPr txBox="1"/>
          <p:nvPr/>
        </p:nvSpPr>
        <p:spPr>
          <a:xfrm>
            <a:off x="571500" y="771525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Strategic &amp; MoU Engagements</a:t>
            </a:r>
          </a:p>
        </p:txBody>
      </p:sp>
      <p:sp>
        <p:nvSpPr>
          <p:cNvPr id="149" name="Rectangle 5"/>
          <p:cNvSpPr/>
          <p:nvPr/>
        </p:nvSpPr>
        <p:spPr>
          <a:xfrm>
            <a:off x="571500" y="1485900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6"/>
          <p:cNvSpPr txBox="1"/>
          <p:nvPr/>
        </p:nvSpPr>
        <p:spPr>
          <a:xfrm>
            <a:off x="571500" y="1895475"/>
            <a:ext cx="11049000" cy="54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Building technology partnerships and memorandums of understanding across the Indian Judiciary to drive systemic digital transformation.</a:t>
            </a:r>
          </a:p>
        </p:txBody>
      </p:sp>
      <p:sp>
        <p:nvSpPr>
          <p:cNvPr id="151" name="TextBox 7"/>
          <p:cNvSpPr txBox="1"/>
          <p:nvPr/>
        </p:nvSpPr>
        <p:spPr>
          <a:xfrm>
            <a:off x="914400" y="3819525"/>
            <a:ext cx="488061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Supreme Court of India</a:t>
            </a:r>
          </a:p>
        </p:txBody>
      </p:sp>
      <p:sp>
        <p:nvSpPr>
          <p:cNvPr id="152" name="TextBox 8"/>
          <p:cNvSpPr txBox="1"/>
          <p:nvPr/>
        </p:nvSpPr>
        <p:spPr>
          <a:xfrm>
            <a:off x="914400" y="4419600"/>
            <a:ext cx="4648200" cy="749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Strategic MoU engagement focusing on comprehensive technology upgradation and overarching digital transformation initiatives for the apex court.</a:t>
            </a:r>
          </a:p>
        </p:txBody>
      </p:sp>
      <p:sp>
        <p:nvSpPr>
          <p:cNvPr id="153" name="TextBox 9"/>
          <p:cNvSpPr txBox="1"/>
          <p:nvPr/>
        </p:nvSpPr>
        <p:spPr>
          <a:xfrm>
            <a:off x="6677025" y="3819525"/>
            <a:ext cx="488061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Punjab &amp; Haryana High Court</a:t>
            </a:r>
          </a:p>
        </p:txBody>
      </p:sp>
      <p:sp>
        <p:nvSpPr>
          <p:cNvPr id="154" name="TextBox 10"/>
          <p:cNvSpPr txBox="1"/>
          <p:nvPr/>
        </p:nvSpPr>
        <p:spPr>
          <a:xfrm>
            <a:off x="6677025" y="4419600"/>
            <a:ext cx="4648200" cy="495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Strategic MoU mapping technology and e-Court related digital transformation engagements to modernize judicial delivery.</a:t>
            </a:r>
          </a:p>
        </p:txBody>
      </p:sp>
      <p:pic>
        <p:nvPicPr>
          <p:cNvPr id="155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14400" y="3209925"/>
            <a:ext cx="38100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Picture 12" descr="Picture 1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677025" y="3209925"/>
            <a:ext cx="381000" cy="381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2562225"/>
            <a:ext cx="5286375" cy="26384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34125" y="2562225"/>
            <a:ext cx="5286375" cy="2638425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TextBox 4"/>
          <p:cNvSpPr txBox="1"/>
          <p:nvPr/>
        </p:nvSpPr>
        <p:spPr>
          <a:xfrm>
            <a:off x="571500" y="771525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Judiciary Technology &amp; e-Court Projects</a:t>
            </a:r>
          </a:p>
        </p:txBody>
      </p:sp>
      <p:sp>
        <p:nvSpPr>
          <p:cNvPr id="161" name="Rectangle 5"/>
          <p:cNvSpPr/>
          <p:nvPr/>
        </p:nvSpPr>
        <p:spPr>
          <a:xfrm>
            <a:off x="571500" y="1485900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6"/>
          <p:cNvSpPr txBox="1"/>
          <p:nvPr/>
        </p:nvSpPr>
        <p:spPr>
          <a:xfrm>
            <a:off x="571500" y="1895475"/>
            <a:ext cx="11049000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Active engagements delivering on-ground technology transformation and e-Court implementation across state jurisdictions.</a:t>
            </a:r>
          </a:p>
        </p:txBody>
      </p:sp>
      <p:sp>
        <p:nvSpPr>
          <p:cNvPr id="163" name="TextBox 7"/>
          <p:cNvSpPr txBox="1"/>
          <p:nvPr/>
        </p:nvSpPr>
        <p:spPr>
          <a:xfrm>
            <a:off x="914400" y="3533775"/>
            <a:ext cx="488061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Madhya Pradesh High Court</a:t>
            </a:r>
          </a:p>
        </p:txBody>
      </p:sp>
      <p:sp>
        <p:nvSpPr>
          <p:cNvPr id="164" name="TextBox 8"/>
          <p:cNvSpPr txBox="1"/>
          <p:nvPr/>
        </p:nvSpPr>
        <p:spPr>
          <a:xfrm>
            <a:off x="914400" y="4133850"/>
            <a:ext cx="4648200" cy="749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Comprehensive technology transformation and e-Court project engagement, optimizing digital infrastructure and application workflows.</a:t>
            </a:r>
          </a:p>
        </p:txBody>
      </p:sp>
      <p:sp>
        <p:nvSpPr>
          <p:cNvPr id="165" name="TextBox 9"/>
          <p:cNvSpPr txBox="1"/>
          <p:nvPr/>
        </p:nvSpPr>
        <p:spPr>
          <a:xfrm>
            <a:off x="6677025" y="3533775"/>
            <a:ext cx="488061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Jammu &amp; Kashmir High Court</a:t>
            </a:r>
          </a:p>
        </p:txBody>
      </p:sp>
      <p:sp>
        <p:nvSpPr>
          <p:cNvPr id="166" name="TextBox 10"/>
          <p:cNvSpPr txBox="1"/>
          <p:nvPr/>
        </p:nvSpPr>
        <p:spPr>
          <a:xfrm>
            <a:off x="6677025" y="4133850"/>
            <a:ext cx="4648200" cy="495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Targeted e-Court project engagement deploying secure technology stacks to enable digital justice delivery in the region.</a:t>
            </a:r>
          </a:p>
        </p:txBody>
      </p:sp>
      <p:pic>
        <p:nvPicPr>
          <p:cNvPr id="167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14400" y="2924175"/>
            <a:ext cx="47625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Picture 12" descr="Picture 1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677025" y="2924175"/>
            <a:ext cx="476250" cy="381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2"/>
          <p:cNvSpPr txBox="1"/>
          <p:nvPr/>
        </p:nvSpPr>
        <p:spPr>
          <a:xfrm>
            <a:off x="1000125" y="2343150"/>
            <a:ext cx="4857750" cy="82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Supreme Court of India</a:t>
            </a:r>
            <a:r>
              <a:rPr b="0">
                <a:solidFill>
                  <a:srgbClr val="334155"/>
                </a:solidFill>
              </a:rPr>
              <a:t> </a:t>
            </a:r>
            <a:endParaRPr b="0"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 b="0">
                <a:solidFill>
                  <a:srgbClr val="000000"/>
                </a:solidFill>
              </a:rPr>
              <a:t>MoU / Strategic Engagement for Technology Upgradation.</a:t>
            </a:r>
          </a:p>
        </p:txBody>
      </p:sp>
      <p:sp>
        <p:nvSpPr>
          <p:cNvPr id="171" name="TextBox 3"/>
          <p:cNvSpPr txBox="1"/>
          <p:nvPr/>
        </p:nvSpPr>
        <p:spPr>
          <a:xfrm>
            <a:off x="1000125" y="3152775"/>
            <a:ext cx="4857750" cy="82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Punjab &amp; Haryana High Court</a:t>
            </a:r>
            <a:r>
              <a:rPr b="0">
                <a:solidFill>
                  <a:srgbClr val="334155"/>
                </a:solidFill>
              </a:rPr>
              <a:t> </a:t>
            </a:r>
            <a:endParaRPr b="0"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 b="0">
                <a:solidFill>
                  <a:srgbClr val="000000"/>
                </a:solidFill>
              </a:rPr>
              <a:t>MoU / Strategic Digital Transformation &amp; e-Courts engagement.</a:t>
            </a:r>
          </a:p>
        </p:txBody>
      </p:sp>
      <p:sp>
        <p:nvSpPr>
          <p:cNvPr id="172" name="TextBox 4"/>
          <p:cNvSpPr txBox="1"/>
          <p:nvPr/>
        </p:nvSpPr>
        <p:spPr>
          <a:xfrm>
            <a:off x="1000125" y="3962400"/>
            <a:ext cx="4857750" cy="82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Madhya Pradesh High Court</a:t>
            </a:r>
            <a:r>
              <a:rPr b="0">
                <a:solidFill>
                  <a:srgbClr val="334155"/>
                </a:solidFill>
              </a:rPr>
              <a:t> </a:t>
            </a:r>
            <a:endParaRPr b="0"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 b="0">
                <a:solidFill>
                  <a:srgbClr val="000000"/>
                </a:solidFill>
              </a:rPr>
              <a:t>Technology Transformation &amp; e-Court Infrastructure Projects.</a:t>
            </a:r>
          </a:p>
        </p:txBody>
      </p:sp>
      <p:sp>
        <p:nvSpPr>
          <p:cNvPr id="173" name="TextBox 5"/>
          <p:cNvSpPr txBox="1"/>
          <p:nvPr/>
        </p:nvSpPr>
        <p:spPr>
          <a:xfrm>
            <a:off x="1000125" y="4772025"/>
            <a:ext cx="4857750" cy="82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Jammu &amp; Kashmir High Court</a:t>
            </a:r>
            <a:r>
              <a:rPr b="0">
                <a:solidFill>
                  <a:srgbClr val="334155"/>
                </a:solidFill>
              </a:rPr>
              <a:t> </a:t>
            </a:r>
            <a:endParaRPr b="0"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rPr b="0">
                <a:solidFill>
                  <a:srgbClr val="000000"/>
                </a:solidFill>
              </a:rPr>
              <a:t>Technology Transformation &amp; e-Court Infrastructure Projects.</a:t>
            </a:r>
          </a:p>
        </p:txBody>
      </p:sp>
      <p:pic>
        <p:nvPicPr>
          <p:cNvPr id="174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2357436"/>
            <a:ext cx="247650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3167061"/>
            <a:ext cx="247650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1500" y="3976687"/>
            <a:ext cx="314325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4786312"/>
            <a:ext cx="276225" cy="257176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TextBox 10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RailTel &amp; Indian Judiciary Footprint</a:t>
            </a:r>
          </a:p>
        </p:txBody>
      </p:sp>
      <p:sp>
        <p:nvSpPr>
          <p:cNvPr id="179" name="Rectangle 11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80" name="Picture 1" descr="Picture 1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334125" y="2057400"/>
            <a:ext cx="5286375" cy="381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Gemini_Generated_Image_oihk5qoihk5qoihk.png" descr="Gemini_Generated_Image_oihk5qoihk5qoihk.png"/>
          <p:cNvPicPr>
            <a:picLocks noChangeAspect="1"/>
          </p:cNvPicPr>
          <p:nvPr/>
        </p:nvPicPr>
        <p:blipFill>
          <a:blip r:embed="rId7">
            <a:extLst/>
          </a:blip>
          <a:srcRect l="0" t="606" r="0" b="606"/>
          <a:stretch>
            <a:fillRect/>
          </a:stretch>
        </p:blipFill>
        <p:spPr>
          <a:xfrm>
            <a:off x="6809785" y="1728839"/>
            <a:ext cx="4589055" cy="45608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4125" y="2057400"/>
            <a:ext cx="5286375" cy="3810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TextBox 2"/>
          <p:cNvSpPr txBox="1"/>
          <p:nvPr/>
        </p:nvSpPr>
        <p:spPr>
          <a:xfrm>
            <a:off x="571500" y="1533525"/>
            <a:ext cx="5286375" cy="54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Executing comprehensive digital workflows and public-facing judicial services:</a:t>
            </a:r>
          </a:p>
        </p:txBody>
      </p:sp>
      <p:pic>
        <p:nvPicPr>
          <p:cNvPr id="185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24600" y="2060069"/>
            <a:ext cx="5286375" cy="3804662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TextBox 4"/>
          <p:cNvSpPr txBox="1"/>
          <p:nvPr/>
        </p:nvSpPr>
        <p:spPr>
          <a:xfrm>
            <a:off x="1000125" y="2343150"/>
            <a:ext cx="4857750" cy="54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e-Filing &amp; e-Diary:</a:t>
            </a:r>
            <a:r>
              <a:rPr b="0">
                <a:solidFill>
                  <a:srgbClr val="334155"/>
                </a:solidFill>
              </a:rPr>
              <a:t> End-to-end digital intake and registration.</a:t>
            </a:r>
          </a:p>
        </p:txBody>
      </p:sp>
      <p:sp>
        <p:nvSpPr>
          <p:cNvPr id="187" name="TextBox 5"/>
          <p:cNvSpPr txBox="1"/>
          <p:nvPr/>
        </p:nvSpPr>
        <p:spPr>
          <a:xfrm>
            <a:off x="1000125" y="3152775"/>
            <a:ext cx="4857750" cy="54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Paperless Court Module:</a:t>
            </a:r>
            <a:r>
              <a:rPr b="0">
                <a:solidFill>
                  <a:srgbClr val="334155"/>
                </a:solidFill>
              </a:rPr>
              <a:t> Integrated Judges Diary for digital hearings.</a:t>
            </a:r>
          </a:p>
        </p:txBody>
      </p:sp>
      <p:sp>
        <p:nvSpPr>
          <p:cNvPr id="188" name="TextBox 6"/>
          <p:cNvSpPr txBox="1"/>
          <p:nvPr/>
        </p:nvSpPr>
        <p:spPr>
          <a:xfrm>
            <a:off x="1000125" y="3962400"/>
            <a:ext cx="4857750" cy="54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Display Boards &amp; Signage:</a:t>
            </a:r>
            <a:r>
              <a:rPr b="0">
                <a:solidFill>
                  <a:srgbClr val="334155"/>
                </a:solidFill>
              </a:rPr>
              <a:t> Real-time online display systems.</a:t>
            </a:r>
          </a:p>
        </p:txBody>
      </p:sp>
      <p:sp>
        <p:nvSpPr>
          <p:cNvPr id="189" name="TextBox 7"/>
          <p:cNvSpPr txBox="1"/>
          <p:nvPr/>
        </p:nvSpPr>
        <p:spPr>
          <a:xfrm>
            <a:off x="1000125" y="4772025"/>
            <a:ext cx="4857750" cy="54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Digital Search &amp; Access:</a:t>
            </a:r>
            <a:r>
              <a:rPr b="0">
                <a:solidFill>
                  <a:srgbClr val="334155"/>
                </a:solidFill>
              </a:rPr>
              <a:t> e-Inspection, e-Copy, and advanced Case/Judgment search capabilities.</a:t>
            </a:r>
          </a:p>
        </p:txBody>
      </p:sp>
      <p:sp>
        <p:nvSpPr>
          <p:cNvPr id="190" name="TextBox 8"/>
          <p:cNvSpPr txBox="1"/>
          <p:nvPr/>
        </p:nvSpPr>
        <p:spPr>
          <a:xfrm>
            <a:off x="1000125" y="5581650"/>
            <a:ext cx="4857750" cy="54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Citizen Services:</a:t>
            </a:r>
            <a:r>
              <a:rPr b="0">
                <a:solidFill>
                  <a:srgbClr val="334155"/>
                </a:solidFill>
              </a:rPr>
              <a:t> Online Mentioning, e-RTI, and e-Gate Pass management.</a:t>
            </a:r>
          </a:p>
        </p:txBody>
      </p:sp>
      <p:pic>
        <p:nvPicPr>
          <p:cNvPr id="191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1500" y="2357436"/>
            <a:ext cx="190500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Picture 10" descr="Picture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3167061"/>
            <a:ext cx="314325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Picture 11" descr="Picture 11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71500" y="3976687"/>
            <a:ext cx="314325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Picture 12" descr="Picture 1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71500" y="4786312"/>
            <a:ext cx="247650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Picture 13" descr="Picture 1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71500" y="5595937"/>
            <a:ext cx="219075" cy="257176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TextBox 14"/>
          <p:cNvSpPr txBox="1"/>
          <p:nvPr/>
        </p:nvSpPr>
        <p:spPr>
          <a:xfrm>
            <a:off x="571500" y="466725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Punjab &amp; Haryana High Court: Live Work</a:t>
            </a:r>
          </a:p>
        </p:txBody>
      </p:sp>
      <p:sp>
        <p:nvSpPr>
          <p:cNvPr id="197" name="Rectangle 15"/>
          <p:cNvSpPr/>
          <p:nvPr/>
        </p:nvSpPr>
        <p:spPr>
          <a:xfrm>
            <a:off x="571500" y="1133475"/>
            <a:ext cx="11049000" cy="19050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"/>
          <p:cNvSpPr/>
          <p:nvPr/>
        </p:nvSpPr>
        <p:spPr>
          <a:xfrm>
            <a:off x="5619750" y="2486025"/>
            <a:ext cx="952500" cy="47625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extBox 2"/>
          <p:cNvSpPr txBox="1"/>
          <p:nvPr/>
        </p:nvSpPr>
        <p:spPr>
          <a:xfrm>
            <a:off x="1350406" y="2819400"/>
            <a:ext cx="9491186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48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Digital Judiciary Core</a:t>
            </a:r>
          </a:p>
        </p:txBody>
      </p:sp>
      <p:sp>
        <p:nvSpPr>
          <p:cNvPr id="201" name="TextBox 3"/>
          <p:cNvSpPr txBox="1"/>
          <p:nvPr/>
        </p:nvSpPr>
        <p:spPr>
          <a:xfrm>
            <a:off x="2286000" y="3914775"/>
            <a:ext cx="7620000" cy="641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600"/>
              </a:lnSpc>
              <a:defRPr sz="1600"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To enable an end-to-end digital ecosystem that connects judicial processes, people, applications, infrastructure and data.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4125" y="2057400"/>
            <a:ext cx="5286375" cy="381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88609" y="1987698"/>
            <a:ext cx="5377407" cy="3870177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extBox 3"/>
          <p:cNvSpPr txBox="1"/>
          <p:nvPr/>
        </p:nvSpPr>
        <p:spPr>
          <a:xfrm>
            <a:off x="1000125" y="1938336"/>
            <a:ext cx="4857750" cy="546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Physical Records:</a:t>
            </a:r>
            <a:r>
              <a:rPr b="0">
                <a:solidFill>
                  <a:srgbClr val="334155"/>
                </a:solidFill>
              </a:rPr>
              <a:t> Secure intake and preparation of legacy files.</a:t>
            </a:r>
          </a:p>
        </p:txBody>
      </p:sp>
      <p:sp>
        <p:nvSpPr>
          <p:cNvPr id="206" name="TextBox 4"/>
          <p:cNvSpPr txBox="1"/>
          <p:nvPr/>
        </p:nvSpPr>
        <p:spPr>
          <a:xfrm>
            <a:off x="1000125" y="2747961"/>
            <a:ext cx="4857750" cy="546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Scanning &amp; OCR:</a:t>
            </a:r>
            <a:r>
              <a:rPr b="0">
                <a:solidFill>
                  <a:srgbClr val="334155"/>
                </a:solidFill>
              </a:rPr>
              <a:t> High-speed, quality-controlled image processing and text extraction.</a:t>
            </a:r>
          </a:p>
        </p:txBody>
      </p:sp>
      <p:sp>
        <p:nvSpPr>
          <p:cNvPr id="207" name="TextBox 5"/>
          <p:cNvSpPr txBox="1"/>
          <p:nvPr/>
        </p:nvSpPr>
        <p:spPr>
          <a:xfrm>
            <a:off x="1000125" y="3557587"/>
            <a:ext cx="4857750" cy="54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Indexing &amp; Metadata:</a:t>
            </a:r>
            <a:r>
              <a:rPr b="0">
                <a:solidFill>
                  <a:srgbClr val="334155"/>
                </a:solidFill>
              </a:rPr>
              <a:t> Rigorous tagging for rapid, accurate retrieval aligned with SC e-Committee SOPs.</a:t>
            </a:r>
          </a:p>
        </p:txBody>
      </p:sp>
      <p:sp>
        <p:nvSpPr>
          <p:cNvPr id="208" name="TextBox 6"/>
          <p:cNvSpPr txBox="1"/>
          <p:nvPr/>
        </p:nvSpPr>
        <p:spPr>
          <a:xfrm>
            <a:off x="1000125" y="4367212"/>
            <a:ext cx="4857750" cy="54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Digital Preservation:</a:t>
            </a:r>
            <a:r>
              <a:rPr b="0">
                <a:solidFill>
                  <a:srgbClr val="334155"/>
                </a:solidFill>
              </a:rPr>
              <a:t> Secure, long-term archival in RailTel's robust data centers.</a:t>
            </a:r>
          </a:p>
        </p:txBody>
      </p:sp>
      <p:sp>
        <p:nvSpPr>
          <p:cNvPr id="209" name="TextBox 7"/>
          <p:cNvSpPr txBox="1"/>
          <p:nvPr/>
        </p:nvSpPr>
        <p:spPr>
          <a:xfrm>
            <a:off x="1000125" y="5176837"/>
            <a:ext cx="4857750" cy="54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Searchable Repository:</a:t>
            </a:r>
            <a:r>
              <a:rPr b="0">
                <a:solidFill>
                  <a:srgbClr val="334155"/>
                </a:solidFill>
              </a:rPr>
              <a:t> Instant, audited access for judges and registry staff.</a:t>
            </a:r>
          </a:p>
        </p:txBody>
      </p:sp>
      <p:pic>
        <p:nvPicPr>
          <p:cNvPr id="210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1500" y="1952625"/>
            <a:ext cx="247650" cy="257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3571875"/>
            <a:ext cx="247650" cy="257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" name="Picture 10" descr="Picture 1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71500" y="4381500"/>
            <a:ext cx="247650" cy="257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Picture 11" descr="Picture 11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71500" y="5191125"/>
            <a:ext cx="276225" cy="257175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extBox 1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Judicial Record Digitization &amp; Preservation</a:t>
            </a:r>
          </a:p>
        </p:txBody>
      </p:sp>
      <p:sp>
        <p:nvSpPr>
          <p:cNvPr id="215" name="Rectangle 13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000" y="3505200"/>
            <a:ext cx="30480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33800" y="3505200"/>
            <a:ext cx="30480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43600" y="3505200"/>
            <a:ext cx="30480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153400" y="3505200"/>
            <a:ext cx="30480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Picture 5" descr="Picture 5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363200" y="3505200"/>
            <a:ext cx="304800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TextBox 7"/>
          <p:cNvSpPr txBox="1"/>
          <p:nvPr/>
        </p:nvSpPr>
        <p:spPr>
          <a:xfrm>
            <a:off x="571500" y="771525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The Digital Judiciary Framework</a:t>
            </a:r>
          </a:p>
        </p:txBody>
      </p:sp>
      <p:sp>
        <p:nvSpPr>
          <p:cNvPr id="223" name="Rectangle 8"/>
          <p:cNvSpPr/>
          <p:nvPr/>
        </p:nvSpPr>
        <p:spPr>
          <a:xfrm>
            <a:off x="571500" y="1485900"/>
            <a:ext cx="11049000" cy="28575"/>
          </a:xfrm>
          <a:prstGeom prst="rect">
            <a:avLst/>
          </a:prstGeom>
          <a:solidFill>
            <a:schemeClr val="accent1">
              <a:lumOff val="11862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</a:p>
        </p:txBody>
      </p:sp>
      <p:sp>
        <p:nvSpPr>
          <p:cNvPr id="224" name="TextBox 9"/>
          <p:cNvSpPr txBox="1"/>
          <p:nvPr/>
        </p:nvSpPr>
        <p:spPr>
          <a:xfrm>
            <a:off x="295275" y="2214562"/>
            <a:ext cx="1160145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0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Five Pillars of Transformation</a:t>
            </a:r>
          </a:p>
        </p:txBody>
      </p:sp>
      <p:sp>
        <p:nvSpPr>
          <p:cNvPr id="225" name="TextBox 11"/>
          <p:cNvSpPr txBox="1"/>
          <p:nvPr/>
        </p:nvSpPr>
        <p:spPr>
          <a:xfrm>
            <a:off x="1286351" y="4000500"/>
            <a:ext cx="780098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Digitize</a:t>
            </a:r>
          </a:p>
        </p:txBody>
      </p:sp>
      <p:sp>
        <p:nvSpPr>
          <p:cNvPr id="226" name="TextBox 12"/>
          <p:cNvSpPr txBox="1"/>
          <p:nvPr/>
        </p:nvSpPr>
        <p:spPr>
          <a:xfrm>
            <a:off x="1140142" y="4383661"/>
            <a:ext cx="1060133" cy="397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Judicial</a:t>
            </a:r>
            <a:endParaRPr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 Records</a:t>
            </a:r>
          </a:p>
        </p:txBody>
      </p:sp>
      <p:sp>
        <p:nvSpPr>
          <p:cNvPr id="227" name="TextBox 13"/>
          <p:cNvSpPr txBox="1"/>
          <p:nvPr/>
        </p:nvSpPr>
        <p:spPr>
          <a:xfrm>
            <a:off x="3356133" y="4000500"/>
            <a:ext cx="1060133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Automate</a:t>
            </a:r>
          </a:p>
        </p:txBody>
      </p:sp>
      <p:sp>
        <p:nvSpPr>
          <p:cNvPr id="228" name="TextBox 14"/>
          <p:cNvSpPr txBox="1"/>
          <p:nvPr/>
        </p:nvSpPr>
        <p:spPr>
          <a:xfrm>
            <a:off x="3543300" y="4381500"/>
            <a:ext cx="685800" cy="39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Judicial</a:t>
            </a:r>
            <a:endParaRPr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 Workflows</a:t>
            </a:r>
          </a:p>
        </p:txBody>
      </p:sp>
      <p:sp>
        <p:nvSpPr>
          <p:cNvPr id="229" name="TextBox 15"/>
          <p:cNvSpPr txBox="1"/>
          <p:nvPr/>
        </p:nvSpPr>
        <p:spPr>
          <a:xfrm>
            <a:off x="5650943" y="4000500"/>
            <a:ext cx="89011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Connect</a:t>
            </a:r>
          </a:p>
        </p:txBody>
      </p:sp>
      <p:sp>
        <p:nvSpPr>
          <p:cNvPr id="230" name="TextBox 16"/>
          <p:cNvSpPr txBox="1"/>
          <p:nvPr/>
        </p:nvSpPr>
        <p:spPr>
          <a:xfrm>
            <a:off x="5653087" y="4381500"/>
            <a:ext cx="885826" cy="39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Digital Courts</a:t>
            </a:r>
            <a:endParaRPr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 &amp; Network</a:t>
            </a:r>
          </a:p>
        </p:txBody>
      </p:sp>
      <p:sp>
        <p:nvSpPr>
          <p:cNvPr id="231" name="TextBox 17"/>
          <p:cNvSpPr txBox="1"/>
          <p:nvPr/>
        </p:nvSpPr>
        <p:spPr>
          <a:xfrm>
            <a:off x="7945755" y="4000500"/>
            <a:ext cx="72009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Secure</a:t>
            </a:r>
          </a:p>
        </p:txBody>
      </p:sp>
      <p:sp>
        <p:nvSpPr>
          <p:cNvPr id="232" name="TextBox 18"/>
          <p:cNvSpPr txBox="1"/>
          <p:nvPr/>
        </p:nvSpPr>
        <p:spPr>
          <a:xfrm>
            <a:off x="7705725" y="4381500"/>
            <a:ext cx="1200150" cy="39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Data Centre, Cloud</a:t>
            </a:r>
            <a:endParaRPr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 &amp; Cybersecurity</a:t>
            </a:r>
          </a:p>
        </p:txBody>
      </p:sp>
      <p:sp>
        <p:nvSpPr>
          <p:cNvPr id="233" name="TextBox 19"/>
          <p:cNvSpPr txBox="1"/>
          <p:nvPr/>
        </p:nvSpPr>
        <p:spPr>
          <a:xfrm>
            <a:off x="10120549" y="4000500"/>
            <a:ext cx="790099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Sustain</a:t>
            </a:r>
          </a:p>
        </p:txBody>
      </p:sp>
      <p:sp>
        <p:nvSpPr>
          <p:cNvPr id="234" name="TextBox 20"/>
          <p:cNvSpPr txBox="1"/>
          <p:nvPr/>
        </p:nvSpPr>
        <p:spPr>
          <a:xfrm>
            <a:off x="9991725" y="4381500"/>
            <a:ext cx="1047750" cy="601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DR, Managed</a:t>
            </a:r>
            <a:endParaRPr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 Services &amp; O&amp;M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1"/>
          <p:cNvSpPr/>
          <p:nvPr/>
        </p:nvSpPr>
        <p:spPr>
          <a:xfrm>
            <a:off x="5619750" y="2671761"/>
            <a:ext cx="952500" cy="47626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TextBox 2"/>
          <p:cNvSpPr txBox="1"/>
          <p:nvPr/>
        </p:nvSpPr>
        <p:spPr>
          <a:xfrm>
            <a:off x="1810464" y="3005136"/>
            <a:ext cx="857107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48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The Digital Court Platform</a:t>
            </a:r>
          </a:p>
        </p:txBody>
      </p:sp>
      <p:sp>
        <p:nvSpPr>
          <p:cNvPr id="238" name="TextBox 3"/>
          <p:cNvSpPr txBox="1"/>
          <p:nvPr/>
        </p:nvSpPr>
        <p:spPr>
          <a:xfrm>
            <a:off x="3567112" y="4100512"/>
            <a:ext cx="5057776" cy="350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900"/>
              </a:lnSpc>
              <a:defRPr sz="19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Demonstrated Judicial Technology Capabilities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4125" y="2057400"/>
            <a:ext cx="5286375" cy="3810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TextBox 11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e-Filing &amp; Digital Scrutiny</a:t>
            </a:r>
          </a:p>
        </p:txBody>
      </p:sp>
      <p:sp>
        <p:nvSpPr>
          <p:cNvPr id="242" name="Rectangle 12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chemeClr val="accent1">
              <a:lumOff val="11862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TextBox 6"/>
          <p:cNvSpPr txBox="1"/>
          <p:nvPr/>
        </p:nvSpPr>
        <p:spPr>
          <a:xfrm>
            <a:off x="571500" y="2085181"/>
            <a:ext cx="56007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For Advocates &amp; Litigants</a:t>
            </a:r>
          </a:p>
        </p:txBody>
      </p:sp>
      <p:sp>
        <p:nvSpPr>
          <p:cNvPr id="244" name="TextBox 8"/>
          <p:cNvSpPr txBox="1"/>
          <p:nvPr/>
        </p:nvSpPr>
        <p:spPr>
          <a:xfrm>
            <a:off x="857250" y="2551906"/>
            <a:ext cx="5048250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Online filing of fresh cases, petitions, and applications.</a:t>
            </a:r>
          </a:p>
        </p:txBody>
      </p:sp>
      <p:sp>
        <p:nvSpPr>
          <p:cNvPr id="245" name="TextBox 9"/>
          <p:cNvSpPr txBox="1"/>
          <p:nvPr/>
        </p:nvSpPr>
        <p:spPr>
          <a:xfrm>
            <a:off x="857250" y="2980530"/>
            <a:ext cx="5048250" cy="267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Secure user authentication and document validation.</a:t>
            </a:r>
          </a:p>
        </p:txBody>
      </p:sp>
      <p:sp>
        <p:nvSpPr>
          <p:cNvPr id="246" name="TextBox 10"/>
          <p:cNvSpPr txBox="1"/>
          <p:nvPr/>
        </p:nvSpPr>
        <p:spPr>
          <a:xfrm>
            <a:off x="857250" y="3409155"/>
            <a:ext cx="5048250" cy="267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Integrated court-fee calculation and payment gateway.</a:t>
            </a:r>
          </a:p>
        </p:txBody>
      </p:sp>
      <p:sp>
        <p:nvSpPr>
          <p:cNvPr id="247" name="TextBox 11"/>
          <p:cNvSpPr txBox="1"/>
          <p:nvPr/>
        </p:nvSpPr>
        <p:spPr>
          <a:xfrm>
            <a:off x="857250" y="3837780"/>
            <a:ext cx="5048250" cy="267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Real-time status tracking and defect communication.</a:t>
            </a:r>
          </a:p>
        </p:txBody>
      </p:sp>
      <p:pic>
        <p:nvPicPr>
          <p:cNvPr id="248" name="Picture 14" descr="Picture 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2570956"/>
            <a:ext cx="9525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2999580"/>
            <a:ext cx="9525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16" descr="Picture 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3428205"/>
            <a:ext cx="9525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3856830"/>
            <a:ext cx="95250" cy="2000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Picture 18" descr="Picture 1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1500" y="2594767"/>
            <a:ext cx="17145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3023392"/>
            <a:ext cx="15240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Picture 20" descr="Picture 2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71500" y="3452017"/>
            <a:ext cx="15240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" name="Picture 21" descr="Picture 21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71500" y="3880642"/>
            <a:ext cx="13335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6" name="Picture 2" descr="Picture 2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71500" y="4806155"/>
            <a:ext cx="5334000" cy="719138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TextBox 12"/>
          <p:cNvSpPr txBox="1"/>
          <p:nvPr/>
        </p:nvSpPr>
        <p:spPr>
          <a:xfrm>
            <a:off x="752475" y="4949030"/>
            <a:ext cx="5010150" cy="181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b="1" sz="1000">
                <a:solidFill>
                  <a:srgbClr val="FF6600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The Digital Journey:</a:t>
            </a:r>
          </a:p>
        </p:txBody>
      </p:sp>
      <p:sp>
        <p:nvSpPr>
          <p:cNvPr id="258" name="TextBox 13"/>
          <p:cNvSpPr txBox="1"/>
          <p:nvPr/>
        </p:nvSpPr>
        <p:spPr>
          <a:xfrm>
            <a:off x="752475" y="5196680"/>
            <a:ext cx="5010150" cy="168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9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Login → File → Upload → Validate → Pay → Scrutiny → Registration</a:t>
            </a:r>
          </a:p>
        </p:txBody>
      </p:sp>
      <p:pic>
        <p:nvPicPr>
          <p:cNvPr id="259" name="ChatGPT Image Aug 27, 2026, 11_57_28 AM.png" descr="ChatGPT Image Aug 27, 2026, 11_57_28 AM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063797" y="1916830"/>
            <a:ext cx="5436622" cy="36244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86500" y="1375320"/>
            <a:ext cx="5334000" cy="500642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9400" y="1380082"/>
            <a:ext cx="5314950" cy="352426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TextBox 4"/>
          <p:cNvSpPr txBox="1"/>
          <p:nvPr/>
        </p:nvSpPr>
        <p:spPr>
          <a:xfrm>
            <a:off x="571499" y="476250"/>
            <a:ext cx="7850983" cy="466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Paperless Court &amp; Judge Dashboard</a:t>
            </a:r>
          </a:p>
        </p:txBody>
      </p:sp>
      <p:sp>
        <p:nvSpPr>
          <p:cNvPr id="264" name="Rectangle 5"/>
          <p:cNvSpPr/>
          <p:nvPr/>
        </p:nvSpPr>
        <p:spPr>
          <a:xfrm>
            <a:off x="571500" y="1051470"/>
            <a:ext cx="7477125" cy="38101"/>
          </a:xfrm>
          <a:prstGeom prst="rect">
            <a:avLst/>
          </a:prstGeom>
          <a:solidFill>
            <a:schemeClr val="accent1">
              <a:lumOff val="11862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6"/>
          <p:cNvSpPr txBox="1"/>
          <p:nvPr/>
        </p:nvSpPr>
        <p:spPr>
          <a:xfrm>
            <a:off x="571500" y="1629319"/>
            <a:ext cx="5334000" cy="326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>
                <a:solidFill>
                  <a:srgbClr val="334155"/>
                </a:solidFill>
                <a:latin typeface="Lato Medium"/>
                <a:ea typeface="Lato Medium"/>
                <a:cs typeface="Lato Medium"/>
                <a:sym typeface="Lato Medium"/>
              </a:defRPr>
            </a:lvl1pPr>
          </a:lstStyle>
          <a:p>
            <a:pPr/>
            <a:r>
              <a:t>Everything the Judge Needs — In One View</a:t>
            </a:r>
          </a:p>
        </p:txBody>
      </p:sp>
      <p:sp>
        <p:nvSpPr>
          <p:cNvPr id="266" name="TextBox 7"/>
          <p:cNvSpPr txBox="1"/>
          <p:nvPr/>
        </p:nvSpPr>
        <p:spPr>
          <a:xfrm>
            <a:off x="571500" y="4594769"/>
            <a:ext cx="5334000" cy="241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b="1" sz="13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Less paper • Faster access • Better visibility • Connected workflow </a:t>
            </a:r>
          </a:p>
        </p:txBody>
      </p:sp>
      <p:pic>
        <p:nvPicPr>
          <p:cNvPr id="267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96025" y="1356269"/>
            <a:ext cx="5314950" cy="4634955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TextBox 9"/>
          <p:cNvSpPr txBox="1"/>
          <p:nvPr/>
        </p:nvSpPr>
        <p:spPr>
          <a:xfrm>
            <a:off x="857250" y="2162719"/>
            <a:ext cx="5048250" cy="241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Today's cases &amp; Cause list integration</a:t>
            </a:r>
          </a:p>
        </p:txBody>
      </p:sp>
      <p:sp>
        <p:nvSpPr>
          <p:cNvPr id="269" name="TextBox 10"/>
          <p:cNvSpPr txBox="1"/>
          <p:nvPr/>
        </p:nvSpPr>
        <p:spPr>
          <a:xfrm>
            <a:off x="857250" y="2534194"/>
            <a:ext cx="5048250" cy="241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Digital case files &amp; Case history</a:t>
            </a:r>
          </a:p>
        </p:txBody>
      </p:sp>
      <p:sp>
        <p:nvSpPr>
          <p:cNvPr id="270" name="TextBox 11"/>
          <p:cNvSpPr txBox="1"/>
          <p:nvPr/>
        </p:nvSpPr>
        <p:spPr>
          <a:xfrm>
            <a:off x="857250" y="2905669"/>
            <a:ext cx="5048250" cy="241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Real-time digital document retrieval</a:t>
            </a:r>
          </a:p>
        </p:txBody>
      </p:sp>
      <p:sp>
        <p:nvSpPr>
          <p:cNvPr id="271" name="TextBox 12"/>
          <p:cNvSpPr txBox="1"/>
          <p:nvPr/>
        </p:nvSpPr>
        <p:spPr>
          <a:xfrm>
            <a:off x="857250" y="3277144"/>
            <a:ext cx="5048250" cy="241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Previous orders &amp; Proceedings management</a:t>
            </a:r>
          </a:p>
        </p:txBody>
      </p:sp>
      <p:sp>
        <p:nvSpPr>
          <p:cNvPr id="272" name="TextBox 13"/>
          <p:cNvSpPr txBox="1"/>
          <p:nvPr/>
        </p:nvSpPr>
        <p:spPr>
          <a:xfrm>
            <a:off x="857250" y="3648619"/>
            <a:ext cx="5048250" cy="241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Digital annotation &amp; Digital orders</a:t>
            </a:r>
          </a:p>
        </p:txBody>
      </p:sp>
      <p:sp>
        <p:nvSpPr>
          <p:cNvPr id="273" name="TextBox 14"/>
          <p:cNvSpPr txBox="1"/>
          <p:nvPr/>
        </p:nvSpPr>
        <p:spPr>
          <a:xfrm>
            <a:off x="857250" y="4020094"/>
            <a:ext cx="5048250" cy="241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Connected matters &amp; Reserved matters</a:t>
            </a:r>
          </a:p>
        </p:txBody>
      </p:sp>
      <p:sp>
        <p:nvSpPr>
          <p:cNvPr id="274" name="TextBox 18"/>
          <p:cNvSpPr txBox="1"/>
          <p:nvPr/>
        </p:nvSpPr>
        <p:spPr>
          <a:xfrm>
            <a:off x="571500" y="2210344"/>
            <a:ext cx="66675" cy="156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■</a:t>
            </a:r>
          </a:p>
        </p:txBody>
      </p:sp>
      <p:sp>
        <p:nvSpPr>
          <p:cNvPr id="275" name="TextBox 19"/>
          <p:cNvSpPr txBox="1"/>
          <p:nvPr/>
        </p:nvSpPr>
        <p:spPr>
          <a:xfrm>
            <a:off x="571500" y="2581819"/>
            <a:ext cx="66675" cy="156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■</a:t>
            </a:r>
          </a:p>
        </p:txBody>
      </p:sp>
      <p:sp>
        <p:nvSpPr>
          <p:cNvPr id="276" name="TextBox 20"/>
          <p:cNvSpPr txBox="1"/>
          <p:nvPr/>
        </p:nvSpPr>
        <p:spPr>
          <a:xfrm>
            <a:off x="571500" y="2953294"/>
            <a:ext cx="66675" cy="156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■</a:t>
            </a:r>
          </a:p>
        </p:txBody>
      </p:sp>
      <p:sp>
        <p:nvSpPr>
          <p:cNvPr id="277" name="TextBox 21"/>
          <p:cNvSpPr txBox="1"/>
          <p:nvPr/>
        </p:nvSpPr>
        <p:spPr>
          <a:xfrm>
            <a:off x="571500" y="3324769"/>
            <a:ext cx="66675" cy="156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■</a:t>
            </a:r>
          </a:p>
        </p:txBody>
      </p:sp>
      <p:sp>
        <p:nvSpPr>
          <p:cNvPr id="278" name="TextBox 22"/>
          <p:cNvSpPr txBox="1"/>
          <p:nvPr/>
        </p:nvSpPr>
        <p:spPr>
          <a:xfrm>
            <a:off x="571500" y="3696244"/>
            <a:ext cx="66675" cy="156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■</a:t>
            </a:r>
          </a:p>
        </p:txBody>
      </p:sp>
      <p:sp>
        <p:nvSpPr>
          <p:cNvPr id="279" name="TextBox 23"/>
          <p:cNvSpPr txBox="1"/>
          <p:nvPr/>
        </p:nvSpPr>
        <p:spPr>
          <a:xfrm>
            <a:off x="571500" y="4067719"/>
            <a:ext cx="66675" cy="156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125" y="1549400"/>
            <a:ext cx="5286375" cy="3810000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TextBox 5"/>
          <p:cNvSpPr txBox="1"/>
          <p:nvPr/>
        </p:nvSpPr>
        <p:spPr>
          <a:xfrm>
            <a:off x="1193800" y="1939925"/>
            <a:ext cx="4292442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chemeClr val="accent1">
                    <a:satOff val="-4409"/>
                    <a:lumOff val="-10509"/>
                  </a:schemeClr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Internal File Movement</a:t>
            </a:r>
          </a:p>
        </p:txBody>
      </p:sp>
      <p:sp>
        <p:nvSpPr>
          <p:cNvPr id="283" name="TextBox 6"/>
          <p:cNvSpPr txBox="1"/>
          <p:nvPr/>
        </p:nvSpPr>
        <p:spPr>
          <a:xfrm>
            <a:off x="755650" y="2587625"/>
            <a:ext cx="4505325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b="1"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Paperless Internal Workflow</a:t>
            </a:r>
          </a:p>
        </p:txBody>
      </p:sp>
      <p:pic>
        <p:nvPicPr>
          <p:cNvPr id="284" name="Picture 16" descr="Picture 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5650" y="2006600"/>
            <a:ext cx="342900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TextBox 17"/>
          <p:cNvSpPr txBox="1"/>
          <p:nvPr/>
        </p:nvSpPr>
        <p:spPr>
          <a:xfrm>
            <a:off x="850900" y="2987675"/>
            <a:ext cx="9525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86" name="TextBox 18"/>
          <p:cNvSpPr txBox="1"/>
          <p:nvPr/>
        </p:nvSpPr>
        <p:spPr>
          <a:xfrm>
            <a:off x="1041400" y="2987675"/>
            <a:ext cx="4219575" cy="49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Digital journey tracking: Receipt → Diary → Section → Officer → Registrar.</a:t>
            </a:r>
          </a:p>
        </p:txBody>
      </p:sp>
      <p:sp>
        <p:nvSpPr>
          <p:cNvPr id="287" name="TextBox 19"/>
          <p:cNvSpPr txBox="1"/>
          <p:nvPr/>
        </p:nvSpPr>
        <p:spPr>
          <a:xfrm>
            <a:off x="850900" y="3597275"/>
            <a:ext cx="9525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88" name="TextBox 20"/>
          <p:cNvSpPr txBox="1"/>
          <p:nvPr/>
        </p:nvSpPr>
        <p:spPr>
          <a:xfrm>
            <a:off x="1041400" y="3597275"/>
            <a:ext cx="4219575" cy="49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Every movement is tracked with User ID, Timestamp, Status, and Action.</a:t>
            </a:r>
          </a:p>
        </p:txBody>
      </p:sp>
      <p:sp>
        <p:nvSpPr>
          <p:cNvPr id="289" name="TextBox 21"/>
          <p:cNvSpPr txBox="1"/>
          <p:nvPr/>
        </p:nvSpPr>
        <p:spPr>
          <a:xfrm>
            <a:off x="850900" y="4206875"/>
            <a:ext cx="9525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90" name="TextBox 22"/>
          <p:cNvSpPr txBox="1"/>
          <p:nvPr/>
        </p:nvSpPr>
        <p:spPr>
          <a:xfrm>
            <a:off x="1041400" y="4206875"/>
            <a:ext cx="4219575" cy="49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Completely secure digital approvals and remark logging.</a:t>
            </a:r>
          </a:p>
        </p:txBody>
      </p:sp>
      <p:sp>
        <p:nvSpPr>
          <p:cNvPr id="291" name="TextBox 23"/>
          <p:cNvSpPr txBox="1"/>
          <p:nvPr/>
        </p:nvSpPr>
        <p:spPr>
          <a:xfrm>
            <a:off x="850900" y="4833745"/>
            <a:ext cx="9525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92" name="TextBox 24"/>
          <p:cNvSpPr txBox="1"/>
          <p:nvPr/>
        </p:nvSpPr>
        <p:spPr>
          <a:xfrm>
            <a:off x="1041400" y="4813300"/>
            <a:ext cx="4219575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Unyielding audit trails for absolute accountability.</a:t>
            </a:r>
          </a:p>
        </p:txBody>
      </p:sp>
      <p:sp>
        <p:nvSpPr>
          <p:cNvPr id="293" name="TextBox 2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Internal File Movement (e-Office)</a:t>
            </a:r>
          </a:p>
        </p:txBody>
      </p:sp>
      <p:sp>
        <p:nvSpPr>
          <p:cNvPr id="294" name="Rectangle 2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chemeClr val="accent1">
              <a:lumOff val="11862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95" name="Picture 12" descr="Picture 12"/>
          <p:cNvPicPr>
            <a:picLocks noChangeAspect="1"/>
          </p:cNvPicPr>
          <p:nvPr/>
        </p:nvPicPr>
        <p:blipFill>
          <a:blip r:embed="rId4">
            <a:extLst/>
          </a:blip>
          <a:srcRect l="6770" t="6770" r="6770" b="6770"/>
          <a:stretch>
            <a:fillRect/>
          </a:stretch>
        </p:blipFill>
        <p:spPr>
          <a:xfrm>
            <a:off x="6296025" y="1762669"/>
            <a:ext cx="5314951" cy="46349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"/>
          <p:cNvSpPr txBox="1"/>
          <p:nvPr/>
        </p:nvSpPr>
        <p:spPr>
          <a:xfrm>
            <a:off x="571500" y="771525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Dynamic Workflow &amp; Role-Based Access (RBAC)</a:t>
            </a:r>
          </a:p>
        </p:txBody>
      </p:sp>
      <p:sp>
        <p:nvSpPr>
          <p:cNvPr id="298" name="Rectangle 3"/>
          <p:cNvSpPr/>
          <p:nvPr/>
        </p:nvSpPr>
        <p:spPr>
          <a:xfrm>
            <a:off x="571500" y="1485900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11862"/>
                  </a:schemeClr>
                </a:solidFill>
              </a:defRPr>
            </a:pPr>
          </a:p>
        </p:txBody>
      </p:sp>
      <p:sp>
        <p:nvSpPr>
          <p:cNvPr id="299" name="TextBox 4"/>
          <p:cNvSpPr txBox="1"/>
          <p:nvPr/>
        </p:nvSpPr>
        <p:spPr>
          <a:xfrm>
            <a:off x="571500" y="1895475"/>
            <a:ext cx="11049000" cy="495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The e-Office/File Movement engine relies on a strictly defined Matrix of Delegation. Access and action permissions adapt based on the user's judicial or administrative role.</a:t>
            </a:r>
          </a:p>
        </p:txBody>
      </p:sp>
      <p:sp>
        <p:nvSpPr>
          <p:cNvPr id="300" name="Rounded Rectangle 5"/>
          <p:cNvSpPr/>
          <p:nvPr/>
        </p:nvSpPr>
        <p:spPr>
          <a:xfrm>
            <a:off x="571500" y="2600325"/>
            <a:ext cx="11049000" cy="36480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301" name="Table 6"/>
          <p:cNvGraphicFramePr/>
          <p:nvPr/>
        </p:nvGraphicFramePr>
        <p:xfrm>
          <a:off x="571500" y="2600325"/>
          <a:ext cx="11049000" cy="3648075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762250"/>
                <a:gridCol w="3867150"/>
                <a:gridCol w="4419600"/>
              </a:tblGrid>
              <a:tr h="729615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Lato SemiBold"/>
                          <a:ea typeface="Lato SemiBold"/>
                          <a:cs typeface="Lato SemiBold"/>
                          <a:sym typeface="Lato SemiBold"/>
                        </a:rPr>
                        <a:t>Role Archetype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Lato SemiBold"/>
                          <a:ea typeface="Lato SemiBold"/>
                          <a:cs typeface="Lato SemiBold"/>
                          <a:sym typeface="Lato SemiBold"/>
                        </a:rPr>
                        <a:t>System Permissions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Lato SemiBold"/>
                          <a:ea typeface="Lato SemiBold"/>
                          <a:cs typeface="Lato SemiBold"/>
                          <a:sym typeface="Lato SemiBold"/>
                        </a:rPr>
                        <a:t>Workflow Capabilities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3366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Registry Clerks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Create, Draft, Attach, Forward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Initiate file noting, attach inward correspondence, route to Section Officer.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7296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Section Officers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Review, Edit, Return, Forward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Validate clerical noting, add departmental remarks, escalate for approval.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</a:tr>
              <a:tr h="7296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Registrars/Judges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Approve, Reject, e-Sign, Re-route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 decision authority, apply digital signature, close workflow loop.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7296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System Admins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Audit, Reassign, Monitor SLA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 bottlenecks, override stalled files (with audit trail), age-analysis.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02" name="Rectangle 7"/>
          <p:cNvSpPr/>
          <p:nvPr/>
        </p:nvSpPr>
        <p:spPr>
          <a:xfrm>
            <a:off x="571500" y="3155949"/>
            <a:ext cx="27622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Rectangle 8"/>
          <p:cNvSpPr/>
          <p:nvPr/>
        </p:nvSpPr>
        <p:spPr>
          <a:xfrm>
            <a:off x="3333750" y="3155949"/>
            <a:ext cx="38671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Rectangle 9"/>
          <p:cNvSpPr/>
          <p:nvPr/>
        </p:nvSpPr>
        <p:spPr>
          <a:xfrm>
            <a:off x="7200900" y="3155949"/>
            <a:ext cx="441960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Rectangle 10"/>
          <p:cNvSpPr/>
          <p:nvPr/>
        </p:nvSpPr>
        <p:spPr>
          <a:xfrm>
            <a:off x="571500" y="3927474"/>
            <a:ext cx="27622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Rectangle 11"/>
          <p:cNvSpPr/>
          <p:nvPr/>
        </p:nvSpPr>
        <p:spPr>
          <a:xfrm>
            <a:off x="3333750" y="3927474"/>
            <a:ext cx="38671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Rectangle 12"/>
          <p:cNvSpPr/>
          <p:nvPr/>
        </p:nvSpPr>
        <p:spPr>
          <a:xfrm>
            <a:off x="7200900" y="3927474"/>
            <a:ext cx="441960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Rectangle 13"/>
          <p:cNvSpPr/>
          <p:nvPr/>
        </p:nvSpPr>
        <p:spPr>
          <a:xfrm>
            <a:off x="571500" y="4698999"/>
            <a:ext cx="27622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Rectangle 14"/>
          <p:cNvSpPr/>
          <p:nvPr/>
        </p:nvSpPr>
        <p:spPr>
          <a:xfrm>
            <a:off x="3333750" y="4698999"/>
            <a:ext cx="38671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Rectangle 15"/>
          <p:cNvSpPr/>
          <p:nvPr/>
        </p:nvSpPr>
        <p:spPr>
          <a:xfrm>
            <a:off x="7200900" y="4698999"/>
            <a:ext cx="441960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Rectangle 16"/>
          <p:cNvSpPr/>
          <p:nvPr/>
        </p:nvSpPr>
        <p:spPr>
          <a:xfrm>
            <a:off x="571500" y="5470524"/>
            <a:ext cx="27622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Rectangle 17"/>
          <p:cNvSpPr/>
          <p:nvPr/>
        </p:nvSpPr>
        <p:spPr>
          <a:xfrm>
            <a:off x="3333750" y="5470524"/>
            <a:ext cx="38671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Rectangle 18"/>
          <p:cNvSpPr/>
          <p:nvPr/>
        </p:nvSpPr>
        <p:spPr>
          <a:xfrm>
            <a:off x="7200900" y="5470524"/>
            <a:ext cx="441960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1895475"/>
            <a:ext cx="5286375" cy="28670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16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34125" y="1895475"/>
            <a:ext cx="5286375" cy="2867025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TextBox 4"/>
          <p:cNvSpPr txBox="1"/>
          <p:nvPr/>
        </p:nvSpPr>
        <p:spPr>
          <a:xfrm>
            <a:off x="571500" y="771525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Digital Access: e-Inspection &amp; e-Copy</a:t>
            </a:r>
          </a:p>
        </p:txBody>
      </p:sp>
      <p:sp>
        <p:nvSpPr>
          <p:cNvPr id="318" name="Rectangle 5"/>
          <p:cNvSpPr/>
          <p:nvPr/>
        </p:nvSpPr>
        <p:spPr>
          <a:xfrm>
            <a:off x="571500" y="1485900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11862"/>
                  </a:schemeClr>
                </a:solidFill>
              </a:defRPr>
            </a:pPr>
          </a:p>
        </p:txBody>
      </p:sp>
      <p:sp>
        <p:nvSpPr>
          <p:cNvPr id="319" name="TextBox 6"/>
          <p:cNvSpPr txBox="1"/>
          <p:nvPr/>
        </p:nvSpPr>
        <p:spPr>
          <a:xfrm>
            <a:off x="749378" y="2219325"/>
            <a:ext cx="4930618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e-Inspection</a:t>
            </a:r>
          </a:p>
        </p:txBody>
      </p:sp>
      <p:sp>
        <p:nvSpPr>
          <p:cNvPr id="320" name="TextBox 7"/>
          <p:cNvSpPr txBox="1"/>
          <p:nvPr/>
        </p:nvSpPr>
        <p:spPr>
          <a:xfrm>
            <a:off x="6512004" y="2219325"/>
            <a:ext cx="4930617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e-Copy</a:t>
            </a:r>
          </a:p>
        </p:txBody>
      </p:sp>
      <p:sp>
        <p:nvSpPr>
          <p:cNvPr id="321" name="TextBox 8"/>
          <p:cNvSpPr txBox="1"/>
          <p:nvPr/>
        </p:nvSpPr>
        <p:spPr>
          <a:xfrm>
            <a:off x="1104900" y="2867025"/>
            <a:ext cx="445770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Online inspection request.</a:t>
            </a:r>
          </a:p>
        </p:txBody>
      </p:sp>
      <p:sp>
        <p:nvSpPr>
          <p:cNvPr id="322" name="TextBox 9"/>
          <p:cNvSpPr txBox="1"/>
          <p:nvPr/>
        </p:nvSpPr>
        <p:spPr>
          <a:xfrm>
            <a:off x="1104900" y="3267075"/>
            <a:ext cx="445770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Approval workflow by registry.</a:t>
            </a:r>
          </a:p>
        </p:txBody>
      </p:sp>
      <p:sp>
        <p:nvSpPr>
          <p:cNvPr id="323" name="TextBox 10"/>
          <p:cNvSpPr txBox="1"/>
          <p:nvPr/>
        </p:nvSpPr>
        <p:spPr>
          <a:xfrm>
            <a:off x="1104900" y="3667125"/>
            <a:ext cx="445770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Time-bound, controlled digital access to case records.</a:t>
            </a:r>
          </a:p>
        </p:txBody>
      </p:sp>
      <p:sp>
        <p:nvSpPr>
          <p:cNvPr id="324" name="TextBox 11"/>
          <p:cNvSpPr txBox="1"/>
          <p:nvPr/>
        </p:nvSpPr>
        <p:spPr>
          <a:xfrm>
            <a:off x="1104900" y="4067175"/>
            <a:ext cx="445770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Complete access audit trail.</a:t>
            </a:r>
          </a:p>
        </p:txBody>
      </p:sp>
      <p:sp>
        <p:nvSpPr>
          <p:cNvPr id="325" name="TextBox 12"/>
          <p:cNvSpPr txBox="1"/>
          <p:nvPr/>
        </p:nvSpPr>
        <p:spPr>
          <a:xfrm>
            <a:off x="6867525" y="2867025"/>
            <a:ext cx="445770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Digital certified copy request.</a:t>
            </a:r>
          </a:p>
        </p:txBody>
      </p:sp>
      <p:sp>
        <p:nvSpPr>
          <p:cNvPr id="326" name="TextBox 13"/>
          <p:cNvSpPr txBox="1"/>
          <p:nvPr/>
        </p:nvSpPr>
        <p:spPr>
          <a:xfrm>
            <a:off x="6867525" y="3267075"/>
            <a:ext cx="445770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Internal processing workflow.</a:t>
            </a:r>
          </a:p>
        </p:txBody>
      </p:sp>
      <p:sp>
        <p:nvSpPr>
          <p:cNvPr id="327" name="TextBox 14"/>
          <p:cNvSpPr txBox="1"/>
          <p:nvPr/>
        </p:nvSpPr>
        <p:spPr>
          <a:xfrm>
            <a:off x="6867525" y="3667125"/>
            <a:ext cx="445770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Secure document generation &amp; digital signing.</a:t>
            </a:r>
          </a:p>
        </p:txBody>
      </p:sp>
      <p:sp>
        <p:nvSpPr>
          <p:cNvPr id="328" name="TextBox 15"/>
          <p:cNvSpPr txBox="1"/>
          <p:nvPr/>
        </p:nvSpPr>
        <p:spPr>
          <a:xfrm>
            <a:off x="6867525" y="4067175"/>
            <a:ext cx="445770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Encrypted digital delivery.</a:t>
            </a:r>
          </a:p>
        </p:txBody>
      </p:sp>
      <p:pic>
        <p:nvPicPr>
          <p:cNvPr id="329" name="Picture 16" descr="Picture 1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6775" y="2909886"/>
            <a:ext cx="15240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30" name="Picture 17" descr="Picture 1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66775" y="3309937"/>
            <a:ext cx="11430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31" name="Picture 18" descr="Picture 1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66775" y="3709987"/>
            <a:ext cx="11430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32" name="Picture 19" descr="Picture 1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66775" y="4110037"/>
            <a:ext cx="104775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33" name="Picture 20" descr="Picture 2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629400" y="2909886"/>
            <a:ext cx="11430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" name="Picture 21" descr="Picture 21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629400" y="3309937"/>
            <a:ext cx="17145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35" name="Picture 22" descr="Picture 22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629400" y="3709987"/>
            <a:ext cx="13335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36" name="Picture 23" descr="Picture 23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6629400" y="4110037"/>
            <a:ext cx="171450" cy="1428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angle 1"/>
          <p:cNvSpPr/>
          <p:nvPr/>
        </p:nvSpPr>
        <p:spPr>
          <a:xfrm>
            <a:off x="5619750" y="2486025"/>
            <a:ext cx="952500" cy="47625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TextBox 2"/>
          <p:cNvSpPr txBox="1"/>
          <p:nvPr/>
        </p:nvSpPr>
        <p:spPr>
          <a:xfrm>
            <a:off x="550306" y="2819400"/>
            <a:ext cx="11091386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48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Connected Court &amp; Infrastructure </a:t>
            </a:r>
          </a:p>
        </p:txBody>
      </p:sp>
      <p:sp>
        <p:nvSpPr>
          <p:cNvPr id="340" name="TextBox 3"/>
          <p:cNvSpPr txBox="1"/>
          <p:nvPr/>
        </p:nvSpPr>
        <p:spPr>
          <a:xfrm>
            <a:off x="2286000" y="3914775"/>
            <a:ext cx="7620000" cy="718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900"/>
              </a:lnSpc>
              <a:defRPr sz="19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Robust Network, Data Centre, Cloud, and Security capabilities to power the judicial ecosystem.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TextBox 2"/>
          <p:cNvSpPr txBox="1"/>
          <p:nvPr/>
        </p:nvSpPr>
        <p:spPr>
          <a:xfrm>
            <a:off x="571499" y="1047750"/>
            <a:ext cx="4110515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Data Centre &amp; Cloud</a:t>
            </a:r>
          </a:p>
        </p:txBody>
      </p:sp>
      <p:sp>
        <p:nvSpPr>
          <p:cNvPr id="344" name="Rectangle 3"/>
          <p:cNvSpPr/>
          <p:nvPr/>
        </p:nvSpPr>
        <p:spPr>
          <a:xfrm>
            <a:off x="571500" y="1714500"/>
            <a:ext cx="3914775" cy="19050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11862"/>
                  </a:schemeClr>
                </a:solidFill>
              </a:defRPr>
            </a:pPr>
          </a:p>
        </p:txBody>
      </p:sp>
      <p:sp>
        <p:nvSpPr>
          <p:cNvPr id="345" name="TextBox 4"/>
          <p:cNvSpPr txBox="1"/>
          <p:nvPr/>
        </p:nvSpPr>
        <p:spPr>
          <a:xfrm>
            <a:off x="571500" y="1971675"/>
            <a:ext cx="5286375" cy="546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Secure hosting for judicial applications with absolute continuity.</a:t>
            </a:r>
          </a:p>
        </p:txBody>
      </p:sp>
      <p:sp>
        <p:nvSpPr>
          <p:cNvPr id="346" name="TextBox 5"/>
          <p:cNvSpPr txBox="1"/>
          <p:nvPr/>
        </p:nvSpPr>
        <p:spPr>
          <a:xfrm>
            <a:off x="571500" y="2781300"/>
            <a:ext cx="5286375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b="1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Data Centre Infrastructure:</a:t>
            </a:r>
          </a:p>
        </p:txBody>
      </p:sp>
      <p:sp>
        <p:nvSpPr>
          <p:cNvPr id="347" name="TextBox 6"/>
          <p:cNvSpPr txBox="1"/>
          <p:nvPr/>
        </p:nvSpPr>
        <p:spPr>
          <a:xfrm>
            <a:off x="571500" y="3086100"/>
            <a:ext cx="5286375" cy="495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Co-location, dedicated server hosting, SAN/NAS storage, and enterprise-grade load balancing.</a:t>
            </a:r>
          </a:p>
        </p:txBody>
      </p:sp>
      <p:sp>
        <p:nvSpPr>
          <p:cNvPr id="348" name="TextBox 7"/>
          <p:cNvSpPr txBox="1"/>
          <p:nvPr/>
        </p:nvSpPr>
        <p:spPr>
          <a:xfrm>
            <a:off x="571500" y="3790950"/>
            <a:ext cx="5286375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b="1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Cloud Hosting:</a:t>
            </a:r>
          </a:p>
        </p:txBody>
      </p:sp>
      <p:sp>
        <p:nvSpPr>
          <p:cNvPr id="349" name="TextBox 8"/>
          <p:cNvSpPr txBox="1"/>
          <p:nvPr/>
        </p:nvSpPr>
        <p:spPr>
          <a:xfrm>
            <a:off x="571500" y="4095750"/>
            <a:ext cx="5286375" cy="495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Scalable, flexible, and fully managed cloud environments strictly tailored for secure government and court applications.</a:t>
            </a:r>
          </a:p>
        </p:txBody>
      </p:sp>
      <p:sp>
        <p:nvSpPr>
          <p:cNvPr id="350" name="TextBox 9"/>
          <p:cNvSpPr txBox="1"/>
          <p:nvPr/>
        </p:nvSpPr>
        <p:spPr>
          <a:xfrm>
            <a:off x="571500" y="4800600"/>
            <a:ext cx="5286375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b="1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Disaster Recovery (DR):</a:t>
            </a:r>
          </a:p>
        </p:txBody>
      </p:sp>
      <p:sp>
        <p:nvSpPr>
          <p:cNvPr id="351" name="TextBox 10"/>
          <p:cNvSpPr txBox="1"/>
          <p:nvPr/>
        </p:nvSpPr>
        <p:spPr>
          <a:xfrm>
            <a:off x="571500" y="5105400"/>
            <a:ext cx="5286375" cy="495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000"/>
              </a:lnSpc>
              <a:defRPr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Robust replication, strict RPO/RTO planning, and BCP implementation. </a:t>
            </a:r>
            <a:r>
              <a:rPr i="1"/>
              <a:t>Judicial data must always be recoverable.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4125" y="2057400"/>
            <a:ext cx="5286375" cy="381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43650" y="2066925"/>
            <a:ext cx="5267325" cy="3790950"/>
          </a:xfrm>
          <a:prstGeom prst="rect">
            <a:avLst/>
          </a:prstGeom>
          <a:ln w="12700">
            <a:miter lim="400000"/>
          </a:ln>
        </p:spPr>
      </p:pic>
      <p:sp>
        <p:nvSpPr>
          <p:cNvPr id="355" name="TextBox 3"/>
          <p:cNvSpPr txBox="1"/>
          <p:nvPr/>
        </p:nvSpPr>
        <p:spPr>
          <a:xfrm>
            <a:off x="1000125" y="1914525"/>
            <a:ext cx="4857750" cy="82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Network Connectivity:</a:t>
            </a:r>
            <a:r>
              <a:rPr b="0">
                <a:solidFill>
                  <a:srgbClr val="334155"/>
                </a:solidFill>
              </a:rPr>
              <a:t> High-availability LAN, WAN, MPLS, SD-WAN, and VPN linking every court and application.</a:t>
            </a:r>
          </a:p>
        </p:txBody>
      </p:sp>
      <p:sp>
        <p:nvSpPr>
          <p:cNvPr id="356" name="TextBox 4"/>
          <p:cNvSpPr txBox="1"/>
          <p:nvPr/>
        </p:nvSpPr>
        <p:spPr>
          <a:xfrm>
            <a:off x="1000125" y="3009900"/>
            <a:ext cx="4857750" cy="82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24x7 NOC:</a:t>
            </a:r>
            <a:r>
              <a:rPr b="0">
                <a:solidFill>
                  <a:srgbClr val="334155"/>
                </a:solidFill>
              </a:rPr>
              <a:t> Continuous monitoring of uptime, latency, bandwidth utilization, and rapid incident response (MTTR).</a:t>
            </a:r>
          </a:p>
        </p:txBody>
      </p:sp>
      <p:sp>
        <p:nvSpPr>
          <p:cNvPr id="357" name="TextBox 5"/>
          <p:cNvSpPr txBox="1"/>
          <p:nvPr/>
        </p:nvSpPr>
        <p:spPr>
          <a:xfrm>
            <a:off x="1000125" y="3819525"/>
            <a:ext cx="4857750" cy="82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Security by Design:</a:t>
            </a:r>
            <a:r>
              <a:rPr b="0">
                <a:solidFill>
                  <a:srgbClr val="334155"/>
                </a:solidFill>
              </a:rPr>
              <a:t> Dedicated Security Operations Center (SOC) equipped with SIEM, next-gen Firewalls, and continuous VAPT.</a:t>
            </a:r>
          </a:p>
        </p:txBody>
      </p:sp>
      <p:sp>
        <p:nvSpPr>
          <p:cNvPr id="358" name="TextBox 6"/>
          <p:cNvSpPr txBox="1"/>
          <p:nvPr/>
        </p:nvSpPr>
        <p:spPr>
          <a:xfrm>
            <a:off x="1000125" y="4914900"/>
            <a:ext cx="4857750" cy="82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b="1" sz="1500">
                <a:solidFill>
                  <a:srgbClr val="004B87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Data Protection:</a:t>
            </a:r>
            <a:r>
              <a:rPr b="0">
                <a:solidFill>
                  <a:srgbClr val="334155"/>
                </a:solidFill>
              </a:rPr>
              <a:t> Web Application Firewalls (WAF), DDoS mitigation, Identity Access Management (IAM), and strict encryption protocols.</a:t>
            </a:r>
          </a:p>
        </p:txBody>
      </p:sp>
      <p:pic>
        <p:nvPicPr>
          <p:cNvPr id="359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1500" y="1928811"/>
            <a:ext cx="314325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3024186"/>
            <a:ext cx="247650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9" descr="Picture 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71500" y="3833812"/>
            <a:ext cx="247650" cy="257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10" descr="Picture 1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71500" y="4929187"/>
            <a:ext cx="219075" cy="257176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extBox 11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Network Operations &amp; Security</a:t>
            </a:r>
          </a:p>
        </p:txBody>
      </p:sp>
      <p:sp>
        <p:nvSpPr>
          <p:cNvPr id="364" name="Rectangle 12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2466975"/>
            <a:ext cx="3492401" cy="24098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67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49650" y="2466975"/>
            <a:ext cx="3492549" cy="24098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68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27949" y="2466975"/>
            <a:ext cx="3492401" cy="2409825"/>
          </a:xfrm>
          <a:prstGeom prst="rect">
            <a:avLst/>
          </a:prstGeom>
          <a:ln w="12700">
            <a:miter lim="400000"/>
          </a:ln>
        </p:spPr>
      </p:pic>
      <p:sp>
        <p:nvSpPr>
          <p:cNvPr id="369" name="TextBox 5"/>
          <p:cNvSpPr txBox="1"/>
          <p:nvPr/>
        </p:nvSpPr>
        <p:spPr>
          <a:xfrm>
            <a:off x="571500" y="771525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Cloud Hosting</a:t>
            </a:r>
          </a:p>
        </p:txBody>
      </p:sp>
      <p:sp>
        <p:nvSpPr>
          <p:cNvPr id="370" name="Rectangle 6"/>
          <p:cNvSpPr/>
          <p:nvPr/>
        </p:nvSpPr>
        <p:spPr>
          <a:xfrm>
            <a:off x="571500" y="1485900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TextBox 7"/>
          <p:cNvSpPr txBox="1"/>
          <p:nvPr/>
        </p:nvSpPr>
        <p:spPr>
          <a:xfrm>
            <a:off x="571500" y="1895475"/>
            <a:ext cx="11049000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200"/>
              </a:lnSpc>
              <a:defRPr b="1" sz="1500">
                <a:solidFill>
                  <a:srgbClr val="FF6600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Scalable &amp; Flexible Infrastructure for the Digital Judiciary</a:t>
            </a:r>
          </a:p>
        </p:txBody>
      </p:sp>
      <p:sp>
        <p:nvSpPr>
          <p:cNvPr id="372" name="TextBox 8"/>
          <p:cNvSpPr txBox="1"/>
          <p:nvPr/>
        </p:nvSpPr>
        <p:spPr>
          <a:xfrm>
            <a:off x="866775" y="3438525"/>
            <a:ext cx="3046944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Cloud Capabilities</a:t>
            </a:r>
          </a:p>
        </p:txBody>
      </p:sp>
      <p:sp>
        <p:nvSpPr>
          <p:cNvPr id="373" name="TextBox 9"/>
          <p:cNvSpPr txBox="1"/>
          <p:nvPr/>
        </p:nvSpPr>
        <p:spPr>
          <a:xfrm>
            <a:off x="866775" y="3895725"/>
            <a:ext cx="2901851" cy="675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Private &amp; Hybrid cloud options, rapid VM provisioning, dynamic resource scaling, and managed backups.</a:t>
            </a:r>
          </a:p>
        </p:txBody>
      </p:sp>
      <p:sp>
        <p:nvSpPr>
          <p:cNvPr id="374" name="TextBox 10"/>
          <p:cNvSpPr txBox="1"/>
          <p:nvPr/>
        </p:nvSpPr>
        <p:spPr>
          <a:xfrm>
            <a:off x="4644925" y="3438525"/>
            <a:ext cx="3047100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Suitable Workloads</a:t>
            </a:r>
          </a:p>
        </p:txBody>
      </p:sp>
      <p:sp>
        <p:nvSpPr>
          <p:cNvPr id="375" name="TextBox 11"/>
          <p:cNvSpPr txBox="1"/>
          <p:nvPr/>
        </p:nvSpPr>
        <p:spPr>
          <a:xfrm>
            <a:off x="4644925" y="3895725"/>
            <a:ext cx="2902000" cy="675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Ideal for Judicial applications, Analytics engines, Digital repositories, DR instances, and Dev/Test environments.</a:t>
            </a:r>
          </a:p>
        </p:txBody>
      </p:sp>
      <p:sp>
        <p:nvSpPr>
          <p:cNvPr id="376" name="TextBox 12"/>
          <p:cNvSpPr txBox="1"/>
          <p:nvPr/>
        </p:nvSpPr>
        <p:spPr>
          <a:xfrm>
            <a:off x="8423224" y="3438525"/>
            <a:ext cx="3046944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Key Benefits</a:t>
            </a:r>
          </a:p>
        </p:txBody>
      </p:sp>
      <p:sp>
        <p:nvSpPr>
          <p:cNvPr id="377" name="TextBox 13"/>
          <p:cNvSpPr txBox="1"/>
          <p:nvPr/>
        </p:nvSpPr>
        <p:spPr>
          <a:xfrm>
            <a:off x="8423224" y="3895725"/>
            <a:ext cx="2901851" cy="675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Highly Scalable, Flexible configuration, High Availability (HA), and fully Managed by RailTel experts.</a:t>
            </a:r>
          </a:p>
        </p:txBody>
      </p:sp>
      <p:pic>
        <p:nvPicPr>
          <p:cNvPr id="378" name="Picture 14" descr="Picture 1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66775" y="2828925"/>
            <a:ext cx="476250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9" name="Picture 15" descr="Picture 15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644925" y="2828925"/>
            <a:ext cx="381001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0" name="Picture 16" descr="Picture 1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423224" y="2828925"/>
            <a:ext cx="428626" cy="381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Box 1"/>
          <p:cNvSpPr txBox="1"/>
          <p:nvPr/>
        </p:nvSpPr>
        <p:spPr>
          <a:xfrm>
            <a:off x="571500" y="3810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Server &amp; Storage Management</a:t>
            </a:r>
          </a:p>
        </p:txBody>
      </p:sp>
      <p:sp>
        <p:nvSpPr>
          <p:cNvPr id="383" name="Rectangle 2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11862"/>
                  </a:schemeClr>
                </a:solidFill>
              </a:defRPr>
            </a:pPr>
          </a:p>
        </p:txBody>
      </p:sp>
      <p:sp>
        <p:nvSpPr>
          <p:cNvPr id="384" name="TextBox 3"/>
          <p:cNvSpPr txBox="1"/>
          <p:nvPr/>
        </p:nvSpPr>
        <p:spPr>
          <a:xfrm>
            <a:off x="571500" y="1758950"/>
            <a:ext cx="5550693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Server Management</a:t>
            </a:r>
          </a:p>
        </p:txBody>
      </p:sp>
      <p:sp>
        <p:nvSpPr>
          <p:cNvPr id="385" name="Rectangle 4"/>
          <p:cNvSpPr/>
          <p:nvPr/>
        </p:nvSpPr>
        <p:spPr>
          <a:xfrm>
            <a:off x="571500" y="2187575"/>
            <a:ext cx="5286375" cy="19050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6" name="TextBox 5"/>
          <p:cNvSpPr txBox="1"/>
          <p:nvPr/>
        </p:nvSpPr>
        <p:spPr>
          <a:xfrm>
            <a:off x="6334125" y="1758950"/>
            <a:ext cx="5550693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Storage Management</a:t>
            </a:r>
          </a:p>
        </p:txBody>
      </p:sp>
      <p:sp>
        <p:nvSpPr>
          <p:cNvPr id="387" name="Rectangle 6"/>
          <p:cNvSpPr/>
          <p:nvPr/>
        </p:nvSpPr>
        <p:spPr>
          <a:xfrm>
            <a:off x="6334125" y="2187575"/>
            <a:ext cx="5286375" cy="19050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TextBox 7"/>
          <p:cNvSpPr txBox="1"/>
          <p:nvPr/>
        </p:nvSpPr>
        <p:spPr>
          <a:xfrm>
            <a:off x="809625" y="2397125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Provisioning &amp; OS management.</a:t>
            </a:r>
          </a:p>
        </p:txBody>
      </p:sp>
      <p:sp>
        <p:nvSpPr>
          <p:cNvPr id="389" name="TextBox 8"/>
          <p:cNvSpPr txBox="1"/>
          <p:nvPr/>
        </p:nvSpPr>
        <p:spPr>
          <a:xfrm>
            <a:off x="809625" y="2797175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Patch management &amp; Security hardening.</a:t>
            </a:r>
          </a:p>
        </p:txBody>
      </p:sp>
      <p:sp>
        <p:nvSpPr>
          <p:cNvPr id="390" name="TextBox 9"/>
          <p:cNvSpPr txBox="1"/>
          <p:nvPr/>
        </p:nvSpPr>
        <p:spPr>
          <a:xfrm>
            <a:off x="809625" y="3197225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Performance &amp; Capacity monitoring.</a:t>
            </a:r>
          </a:p>
        </p:txBody>
      </p:sp>
      <p:sp>
        <p:nvSpPr>
          <p:cNvPr id="391" name="TextBox 10"/>
          <p:cNvSpPr txBox="1"/>
          <p:nvPr/>
        </p:nvSpPr>
        <p:spPr>
          <a:xfrm>
            <a:off x="809625" y="3597275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Application infrastructure support.</a:t>
            </a:r>
          </a:p>
        </p:txBody>
      </p:sp>
      <p:sp>
        <p:nvSpPr>
          <p:cNvPr id="392" name="TextBox 11"/>
          <p:cNvSpPr txBox="1"/>
          <p:nvPr/>
        </p:nvSpPr>
        <p:spPr>
          <a:xfrm>
            <a:off x="6572250" y="2397125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SAN, NAS, and Enterprise storage.</a:t>
            </a:r>
          </a:p>
        </p:txBody>
      </p:sp>
      <p:sp>
        <p:nvSpPr>
          <p:cNvPr id="393" name="TextBox 12"/>
          <p:cNvSpPr txBox="1"/>
          <p:nvPr/>
        </p:nvSpPr>
        <p:spPr>
          <a:xfrm>
            <a:off x="6572250" y="2797175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Data replication &amp; Archival lifecycle.</a:t>
            </a:r>
          </a:p>
        </p:txBody>
      </p:sp>
      <p:sp>
        <p:nvSpPr>
          <p:cNvPr id="394" name="TextBox 13"/>
          <p:cNvSpPr txBox="1"/>
          <p:nvPr/>
        </p:nvSpPr>
        <p:spPr>
          <a:xfrm>
            <a:off x="6572250" y="3197225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Capacity planning for growing judicial records.</a:t>
            </a:r>
          </a:p>
        </p:txBody>
      </p:sp>
      <p:sp>
        <p:nvSpPr>
          <p:cNvPr id="395" name="TextBox 14"/>
          <p:cNvSpPr txBox="1"/>
          <p:nvPr/>
        </p:nvSpPr>
        <p:spPr>
          <a:xfrm>
            <a:off x="6572250" y="3597275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High-availability compute &amp; storage ops.</a:t>
            </a:r>
          </a:p>
        </p:txBody>
      </p:sp>
      <p:pic>
        <p:nvPicPr>
          <p:cNvPr id="396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2439986"/>
            <a:ext cx="11430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16" descr="Picture 1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2840036"/>
            <a:ext cx="11430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8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3240086"/>
            <a:ext cx="11430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9" name="Picture 18" descr="Picture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3640137"/>
            <a:ext cx="11430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0" name="Picture 19" descr="Pictur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4125" y="2439986"/>
            <a:ext cx="11430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1" name="Picture 20" descr="Picture 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4125" y="2840036"/>
            <a:ext cx="11430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2" name="Picture 21" descr="Picture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4125" y="3240086"/>
            <a:ext cx="11430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3" name="Picture 22" descr="Picture 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4125" y="3640137"/>
            <a:ext cx="114300" cy="1428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2"/>
          <p:cNvSpPr txBox="1"/>
          <p:nvPr/>
        </p:nvSpPr>
        <p:spPr>
          <a:xfrm>
            <a:off x="571500" y="771525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Enterprise API Gateway Integration</a:t>
            </a:r>
          </a:p>
        </p:txBody>
      </p:sp>
      <p:sp>
        <p:nvSpPr>
          <p:cNvPr id="406" name="Rectangle 3"/>
          <p:cNvSpPr/>
          <p:nvPr/>
        </p:nvSpPr>
        <p:spPr>
          <a:xfrm>
            <a:off x="571500" y="1485900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7" name="TextBox 4"/>
          <p:cNvSpPr txBox="1"/>
          <p:nvPr/>
        </p:nvSpPr>
        <p:spPr>
          <a:xfrm>
            <a:off x="571500" y="1895475"/>
            <a:ext cx="11049000" cy="49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A modern High Court requires secure interoperability with external state systems. RailTel deploys secure API Gateways to manage these connections.</a:t>
            </a:r>
          </a:p>
        </p:txBody>
      </p:sp>
      <p:sp>
        <p:nvSpPr>
          <p:cNvPr id="408" name="Rounded Rectangle 5"/>
          <p:cNvSpPr/>
          <p:nvPr/>
        </p:nvSpPr>
        <p:spPr>
          <a:xfrm>
            <a:off x="571500" y="2851150"/>
            <a:ext cx="11049000" cy="27336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409" name="Table 6"/>
          <p:cNvGraphicFramePr/>
          <p:nvPr/>
        </p:nvGraphicFramePr>
        <p:xfrm>
          <a:off x="571500" y="2851150"/>
          <a:ext cx="11049000" cy="2733675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762250"/>
                <a:gridCol w="3867150"/>
                <a:gridCol w="4419600"/>
              </a:tblGrid>
              <a:tr h="546735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Lato SemiBold"/>
                          <a:ea typeface="Lato SemiBold"/>
                          <a:cs typeface="Lato SemiBold"/>
                          <a:sym typeface="Lato SemiBold"/>
                        </a:rPr>
                        <a:t>Integration Node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Lato SemiBold"/>
                          <a:ea typeface="Lato SemiBold"/>
                          <a:cs typeface="Lato SemiBold"/>
                          <a:sym typeface="Lato SemiBold"/>
                        </a:rPr>
                        <a:t>Data Exchanged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Lato SemiBold"/>
                          <a:ea typeface="Lato SemiBold"/>
                          <a:cs typeface="Lato SemiBold"/>
                          <a:sym typeface="Lato SemiBold"/>
                        </a:rPr>
                        <a:t>Gateway Security Protocol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3366"/>
                    </a:solidFill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NJDG / e-Courts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Case status, cause lists, aggregated judicial statistics.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Mutual TLS (mTLS), OAuth 2.0, Rate Limiting.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Police (CCTNS) / Prisons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FIR details, chargesheets, undertrial status, VC links.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Encrypted REST APIs over secure Government VPN.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Payment Gateways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Court fees, fines, transaction tokens.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PCI-DSS compliant tokenization, strict whitelisting.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UIDAI / NSDL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Aadhaar/PAN validation for litigants &amp; advocates.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Authorized AUA/KUA secure tunneling.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10" name="Rectangle 7"/>
          <p:cNvSpPr/>
          <p:nvPr/>
        </p:nvSpPr>
        <p:spPr>
          <a:xfrm>
            <a:off x="571500" y="3406774"/>
            <a:ext cx="27622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Rectangle 8"/>
          <p:cNvSpPr/>
          <p:nvPr/>
        </p:nvSpPr>
        <p:spPr>
          <a:xfrm>
            <a:off x="3333750" y="3406774"/>
            <a:ext cx="38671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2" name="Rectangle 9"/>
          <p:cNvSpPr/>
          <p:nvPr/>
        </p:nvSpPr>
        <p:spPr>
          <a:xfrm>
            <a:off x="7200900" y="3406774"/>
            <a:ext cx="441960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3" name="Rectangle 10"/>
          <p:cNvSpPr/>
          <p:nvPr/>
        </p:nvSpPr>
        <p:spPr>
          <a:xfrm>
            <a:off x="571500" y="3949699"/>
            <a:ext cx="27622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Rectangle 11"/>
          <p:cNvSpPr/>
          <p:nvPr/>
        </p:nvSpPr>
        <p:spPr>
          <a:xfrm>
            <a:off x="3333750" y="3949699"/>
            <a:ext cx="38671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Rectangle 12"/>
          <p:cNvSpPr/>
          <p:nvPr/>
        </p:nvSpPr>
        <p:spPr>
          <a:xfrm>
            <a:off x="7200900" y="3949699"/>
            <a:ext cx="441960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6" name="Rectangle 13"/>
          <p:cNvSpPr/>
          <p:nvPr/>
        </p:nvSpPr>
        <p:spPr>
          <a:xfrm>
            <a:off x="571500" y="4492624"/>
            <a:ext cx="27622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7" name="Rectangle 14"/>
          <p:cNvSpPr/>
          <p:nvPr/>
        </p:nvSpPr>
        <p:spPr>
          <a:xfrm>
            <a:off x="3333750" y="4492624"/>
            <a:ext cx="38671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8" name="Rectangle 15"/>
          <p:cNvSpPr/>
          <p:nvPr/>
        </p:nvSpPr>
        <p:spPr>
          <a:xfrm>
            <a:off x="7200900" y="4492624"/>
            <a:ext cx="441960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Rectangle 16"/>
          <p:cNvSpPr/>
          <p:nvPr/>
        </p:nvSpPr>
        <p:spPr>
          <a:xfrm>
            <a:off x="571500" y="5035549"/>
            <a:ext cx="27622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0" name="Rectangle 17"/>
          <p:cNvSpPr/>
          <p:nvPr/>
        </p:nvSpPr>
        <p:spPr>
          <a:xfrm>
            <a:off x="3333750" y="5035549"/>
            <a:ext cx="38671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1" name="Rectangle 18"/>
          <p:cNvSpPr/>
          <p:nvPr/>
        </p:nvSpPr>
        <p:spPr>
          <a:xfrm>
            <a:off x="7200900" y="5035549"/>
            <a:ext cx="441960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ecurity &amp; Resilience"/>
          <p:cNvSpPr txBox="1"/>
          <p:nvPr/>
        </p:nvSpPr>
        <p:spPr>
          <a:xfrm>
            <a:off x="2845912" y="2735579"/>
            <a:ext cx="6304618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48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Security &amp; Resilience</a:t>
            </a:r>
          </a:p>
        </p:txBody>
      </p:sp>
      <p:sp>
        <p:nvSpPr>
          <p:cNvPr id="424" name="Rectangle 1"/>
          <p:cNvSpPr/>
          <p:nvPr/>
        </p:nvSpPr>
        <p:spPr>
          <a:xfrm>
            <a:off x="5492750" y="2232025"/>
            <a:ext cx="952500" cy="47625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Box 2"/>
          <p:cNvSpPr txBox="1"/>
          <p:nvPr/>
        </p:nvSpPr>
        <p:spPr>
          <a:xfrm>
            <a:off x="571500" y="3810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Disaster Recovery (DR) Architecture</a:t>
            </a:r>
          </a:p>
        </p:txBody>
      </p:sp>
      <p:sp>
        <p:nvSpPr>
          <p:cNvPr id="427" name="Rectangle 3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TextBox 4"/>
          <p:cNvSpPr txBox="1"/>
          <p:nvPr/>
        </p:nvSpPr>
        <p:spPr>
          <a:xfrm>
            <a:off x="571500" y="1631950"/>
            <a:ext cx="11049000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200"/>
              </a:lnSpc>
              <a:defRPr b="1" sz="16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Ensuring Judicial Services Continue</a:t>
            </a:r>
          </a:p>
        </p:txBody>
      </p:sp>
      <p:pic>
        <p:nvPicPr>
          <p:cNvPr id="429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6411" y="2806700"/>
            <a:ext cx="304801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430" name="TextBox 9"/>
          <p:cNvSpPr txBox="1"/>
          <p:nvPr/>
        </p:nvSpPr>
        <p:spPr>
          <a:xfrm>
            <a:off x="1043701" y="3302000"/>
            <a:ext cx="1770222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Primary Data Centre</a:t>
            </a:r>
          </a:p>
        </p:txBody>
      </p:sp>
      <p:pic>
        <p:nvPicPr>
          <p:cNvPr id="431" name="Picture 10" descr="Picture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70300" y="2806700"/>
            <a:ext cx="304801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432" name="TextBox 11"/>
          <p:cNvSpPr txBox="1"/>
          <p:nvPr/>
        </p:nvSpPr>
        <p:spPr>
          <a:xfrm>
            <a:off x="3492608" y="3302000"/>
            <a:ext cx="146018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Data Replication</a:t>
            </a:r>
          </a:p>
        </p:txBody>
      </p:sp>
      <p:pic>
        <p:nvPicPr>
          <p:cNvPr id="433" name="Picture 12" descr="Picture 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64337" y="2806700"/>
            <a:ext cx="304801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434" name="TextBox 13"/>
          <p:cNvSpPr txBox="1"/>
          <p:nvPr/>
        </p:nvSpPr>
        <p:spPr>
          <a:xfrm>
            <a:off x="6221700" y="3302000"/>
            <a:ext cx="590074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DR Site</a:t>
            </a:r>
          </a:p>
        </p:txBody>
      </p:sp>
      <p:pic>
        <p:nvPicPr>
          <p:cNvPr id="435" name="Picture 14" descr="Picture 1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658225" y="2806700"/>
            <a:ext cx="304800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436" name="TextBox 15"/>
          <p:cNvSpPr txBox="1"/>
          <p:nvPr/>
        </p:nvSpPr>
        <p:spPr>
          <a:xfrm>
            <a:off x="8465580" y="3302000"/>
            <a:ext cx="690087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Failover</a:t>
            </a:r>
          </a:p>
        </p:txBody>
      </p:sp>
      <p:pic>
        <p:nvPicPr>
          <p:cNvPr id="437" name="Picture 16" descr="Picture 1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531523" y="2806700"/>
            <a:ext cx="304801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438" name="TextBox 17"/>
          <p:cNvSpPr txBox="1"/>
          <p:nvPr/>
        </p:nvSpPr>
        <p:spPr>
          <a:xfrm>
            <a:off x="9843819" y="3302000"/>
            <a:ext cx="168021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Service Restoration</a:t>
            </a:r>
          </a:p>
        </p:txBody>
      </p:sp>
      <p:pic>
        <p:nvPicPr>
          <p:cNvPr id="439" name="Picture 18" descr="Picture 1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862136" y="2892425"/>
            <a:ext cx="133351" cy="133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0" name="Picture 19" descr="Picture 19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165550" y="2892425"/>
            <a:ext cx="114301" cy="133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1" name="Picture 20" descr="Picture 2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440537" y="2892425"/>
            <a:ext cx="152401" cy="133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2" name="Picture 21" descr="Picture 21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753475" y="2892425"/>
            <a:ext cx="114300" cy="1333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3" name="Picture 22" descr="Picture 22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0626773" y="2892425"/>
            <a:ext cx="114301" cy="1333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86500" y="1375320"/>
            <a:ext cx="5334000" cy="5006429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2416719"/>
            <a:ext cx="5334000" cy="3619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1500" y="2873919"/>
            <a:ext cx="5334000" cy="3619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5" descr="Picture 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1500" y="3331119"/>
            <a:ext cx="5334000" cy="3619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9" name="Picture 6" descr="Picture 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71500" y="3788319"/>
            <a:ext cx="5334000" cy="3619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0" name="Picture 7" descr="Picture 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71500" y="4245519"/>
            <a:ext cx="5334000" cy="361951"/>
          </a:xfrm>
          <a:prstGeom prst="rect">
            <a:avLst/>
          </a:prstGeom>
          <a:ln w="12700">
            <a:miter lim="400000"/>
          </a:ln>
        </p:spPr>
      </p:pic>
      <p:sp>
        <p:nvSpPr>
          <p:cNvPr id="451" name="TextBox 9"/>
          <p:cNvSpPr txBox="1"/>
          <p:nvPr/>
        </p:nvSpPr>
        <p:spPr>
          <a:xfrm>
            <a:off x="571499" y="476250"/>
            <a:ext cx="6030755" cy="482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2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Cybersecurity (SOC &amp; SIEM)</a:t>
            </a:r>
          </a:p>
        </p:txBody>
      </p:sp>
      <p:sp>
        <p:nvSpPr>
          <p:cNvPr id="452" name="Rectangle 10"/>
          <p:cNvSpPr/>
          <p:nvPr/>
        </p:nvSpPr>
        <p:spPr>
          <a:xfrm>
            <a:off x="571500" y="1051470"/>
            <a:ext cx="5743575" cy="38101"/>
          </a:xfrm>
          <a:prstGeom prst="rect">
            <a:avLst/>
          </a:prstGeom>
          <a:solidFill>
            <a:srgbClr val="D32F2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11862"/>
                  </a:schemeClr>
                </a:solidFill>
              </a:defRPr>
            </a:pPr>
          </a:p>
        </p:txBody>
      </p:sp>
      <p:sp>
        <p:nvSpPr>
          <p:cNvPr id="453" name="TextBox 11"/>
          <p:cNvSpPr txBox="1"/>
          <p:nvPr/>
        </p:nvSpPr>
        <p:spPr>
          <a:xfrm>
            <a:off x="571500" y="1756319"/>
            <a:ext cx="5334000" cy="329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b="1" sz="1900">
                <a:solidFill>
                  <a:srgbClr val="334155"/>
                </a:solidFill>
                <a:latin typeface="Lato Medium"/>
                <a:ea typeface="Lato Medium"/>
                <a:cs typeface="Lato Medium"/>
                <a:sym typeface="Lato Medium"/>
              </a:defRPr>
            </a:lvl1pPr>
          </a:lstStyle>
          <a:p>
            <a:pPr/>
            <a:r>
              <a:t>Security by Design Across Every Layer</a:t>
            </a:r>
          </a:p>
        </p:txBody>
      </p:sp>
      <p:pic>
        <p:nvPicPr>
          <p:cNvPr id="454" name="Picture 12" descr="Picture 12"/>
          <p:cNvPicPr>
            <a:picLocks noChangeAspect="1"/>
          </p:cNvPicPr>
          <p:nvPr/>
        </p:nvPicPr>
        <p:blipFill>
          <a:blip r:embed="rId8">
            <a:extLst/>
          </a:blip>
          <a:srcRect l="0" t="24481" r="0" b="24481"/>
          <a:stretch>
            <a:fillRect/>
          </a:stretch>
        </p:blipFill>
        <p:spPr>
          <a:xfrm>
            <a:off x="5749452" y="2059506"/>
            <a:ext cx="6153904" cy="2738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5" name="Picture 16" descr="Picture 16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847850" y="2526258"/>
            <a:ext cx="123825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6" name="Picture 17" descr="Picture 1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847850" y="2983458"/>
            <a:ext cx="123825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" name="Picture 18" descr="Picture 1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847850" y="3440658"/>
            <a:ext cx="123825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" name="Picture 19" descr="Picture 19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847850" y="3897857"/>
            <a:ext cx="123825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9" name="Picture 20" descr="Picture 2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847850" y="4355057"/>
            <a:ext cx="123825" cy="1428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4125" y="1504950"/>
            <a:ext cx="5286375" cy="3086100"/>
          </a:xfrm>
          <a:prstGeom prst="rect">
            <a:avLst/>
          </a:prstGeom>
          <a:ln w="12700">
            <a:miter lim="400000"/>
          </a:ln>
        </p:spPr>
      </p:pic>
      <p:sp>
        <p:nvSpPr>
          <p:cNvPr id="462" name="TextBox 2"/>
          <p:cNvSpPr txBox="1"/>
          <p:nvPr/>
        </p:nvSpPr>
        <p:spPr>
          <a:xfrm>
            <a:off x="571500" y="3810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Business Continuity Planning (BCP)</a:t>
            </a:r>
          </a:p>
        </p:txBody>
      </p:sp>
      <p:sp>
        <p:nvSpPr>
          <p:cNvPr id="463" name="Rectangle 3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4" name="TextBox 4"/>
          <p:cNvSpPr txBox="1"/>
          <p:nvPr/>
        </p:nvSpPr>
        <p:spPr>
          <a:xfrm>
            <a:off x="571500" y="1504950"/>
            <a:ext cx="5550693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Beyond Backup — Operational Continuity</a:t>
            </a:r>
          </a:p>
        </p:txBody>
      </p:sp>
      <p:sp>
        <p:nvSpPr>
          <p:cNvPr id="465" name="Rectangle 5"/>
          <p:cNvSpPr/>
          <p:nvPr/>
        </p:nvSpPr>
        <p:spPr>
          <a:xfrm>
            <a:off x="571500" y="1933575"/>
            <a:ext cx="5286375" cy="19050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TextBox 6"/>
          <p:cNvSpPr txBox="1"/>
          <p:nvPr/>
        </p:nvSpPr>
        <p:spPr>
          <a:xfrm>
            <a:off x="571500" y="2143125"/>
            <a:ext cx="5286375" cy="495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A structured framework to ensure the High Court functions despite infrastructure disruptions.</a:t>
            </a:r>
          </a:p>
        </p:txBody>
      </p:sp>
      <p:sp>
        <p:nvSpPr>
          <p:cNvPr id="467" name="TextBox 7"/>
          <p:cNvSpPr txBox="1"/>
          <p:nvPr/>
        </p:nvSpPr>
        <p:spPr>
          <a:xfrm>
            <a:off x="6619875" y="1790700"/>
            <a:ext cx="4950618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Protecting the Core</a:t>
            </a:r>
          </a:p>
        </p:txBody>
      </p:sp>
      <p:sp>
        <p:nvSpPr>
          <p:cNvPr id="468" name="Rectangle 8"/>
          <p:cNvSpPr/>
          <p:nvPr/>
        </p:nvSpPr>
        <p:spPr>
          <a:xfrm>
            <a:off x="6619875" y="2219325"/>
            <a:ext cx="4714875" cy="1905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9" name="TextBox 9"/>
          <p:cNvSpPr txBox="1"/>
          <p:nvPr/>
        </p:nvSpPr>
        <p:spPr>
          <a:xfrm>
            <a:off x="809625" y="2990850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Risk Assessment</a:t>
            </a:r>
          </a:p>
        </p:txBody>
      </p:sp>
      <p:sp>
        <p:nvSpPr>
          <p:cNvPr id="470" name="TextBox 10"/>
          <p:cNvSpPr txBox="1"/>
          <p:nvPr/>
        </p:nvSpPr>
        <p:spPr>
          <a:xfrm>
            <a:off x="809625" y="3390900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Critical Service Identification</a:t>
            </a:r>
          </a:p>
        </p:txBody>
      </p:sp>
      <p:sp>
        <p:nvSpPr>
          <p:cNvPr id="471" name="TextBox 11"/>
          <p:cNvSpPr txBox="1"/>
          <p:nvPr/>
        </p:nvSpPr>
        <p:spPr>
          <a:xfrm>
            <a:off x="809625" y="3790950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Continuity Planning &amp; DR Strategy</a:t>
            </a:r>
          </a:p>
        </p:txBody>
      </p:sp>
      <p:sp>
        <p:nvSpPr>
          <p:cNvPr id="472" name="TextBox 12"/>
          <p:cNvSpPr txBox="1"/>
          <p:nvPr/>
        </p:nvSpPr>
        <p:spPr>
          <a:xfrm>
            <a:off x="809625" y="4191000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Testing &amp; Recovery</a:t>
            </a:r>
          </a:p>
        </p:txBody>
      </p:sp>
      <p:sp>
        <p:nvSpPr>
          <p:cNvPr id="473" name="TextBox 13"/>
          <p:cNvSpPr txBox="1"/>
          <p:nvPr/>
        </p:nvSpPr>
        <p:spPr>
          <a:xfrm>
            <a:off x="6858000" y="2571750"/>
            <a:ext cx="44767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Applications</a:t>
            </a:r>
          </a:p>
        </p:txBody>
      </p:sp>
      <p:sp>
        <p:nvSpPr>
          <p:cNvPr id="474" name="TextBox 14"/>
          <p:cNvSpPr txBox="1"/>
          <p:nvPr/>
        </p:nvSpPr>
        <p:spPr>
          <a:xfrm>
            <a:off x="6858000" y="2971800"/>
            <a:ext cx="44767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Judicial Records</a:t>
            </a:r>
          </a:p>
        </p:txBody>
      </p:sp>
      <p:sp>
        <p:nvSpPr>
          <p:cNvPr id="475" name="TextBox 15"/>
          <p:cNvSpPr txBox="1"/>
          <p:nvPr/>
        </p:nvSpPr>
        <p:spPr>
          <a:xfrm>
            <a:off x="6858000" y="3371850"/>
            <a:ext cx="44767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Infrastructure &amp; Network</a:t>
            </a:r>
          </a:p>
        </p:txBody>
      </p:sp>
      <p:sp>
        <p:nvSpPr>
          <p:cNvPr id="476" name="TextBox 16"/>
          <p:cNvSpPr txBox="1"/>
          <p:nvPr/>
        </p:nvSpPr>
        <p:spPr>
          <a:xfrm>
            <a:off x="6858000" y="3771900"/>
            <a:ext cx="44767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Critical Registry Operations</a:t>
            </a:r>
          </a:p>
        </p:txBody>
      </p:sp>
      <p:pic>
        <p:nvPicPr>
          <p:cNvPr id="477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3033711"/>
            <a:ext cx="66675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3433762"/>
            <a:ext cx="66675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" name="Picture 19" descr="Picture 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3833812"/>
            <a:ext cx="66675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" name="Picture 20" descr="Picture 2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4233862"/>
            <a:ext cx="66675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" name="Picture 21" descr="Picture 2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619875" y="2614611"/>
            <a:ext cx="13335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2" name="Picture 22" descr="Picture 2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619875" y="3014661"/>
            <a:ext cx="13335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3" name="Picture 23" descr="Picture 2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619875" y="3414712"/>
            <a:ext cx="133350" cy="142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4" name="Picture 24" descr="Picture 2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619875" y="3814762"/>
            <a:ext cx="133350" cy="1428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Mumbai High Court Vision"/>
          <p:cNvSpPr txBox="1"/>
          <p:nvPr/>
        </p:nvSpPr>
        <p:spPr>
          <a:xfrm>
            <a:off x="2154753" y="3014979"/>
            <a:ext cx="7882494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48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Mumbai High Court Vision </a:t>
            </a:r>
          </a:p>
        </p:txBody>
      </p:sp>
      <p:sp>
        <p:nvSpPr>
          <p:cNvPr id="487" name="Rectangle 1"/>
          <p:cNvSpPr/>
          <p:nvPr/>
        </p:nvSpPr>
        <p:spPr>
          <a:xfrm>
            <a:off x="5365750" y="2486025"/>
            <a:ext cx="952500" cy="47625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2028825"/>
            <a:ext cx="5286375" cy="3867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34125" y="2028825"/>
            <a:ext cx="5286375" cy="3867150"/>
          </a:xfrm>
          <a:prstGeom prst="rect">
            <a:avLst/>
          </a:prstGeom>
          <a:ln w="12700">
            <a:miter lim="400000"/>
          </a:ln>
        </p:spPr>
      </p:pic>
      <p:sp>
        <p:nvSpPr>
          <p:cNvPr id="491" name="TextBox 3"/>
          <p:cNvSpPr txBox="1"/>
          <p:nvPr/>
        </p:nvSpPr>
        <p:spPr>
          <a:xfrm>
            <a:off x="1438275" y="2419350"/>
            <a:ext cx="4254342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ED790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 Trusted Government Partner</a:t>
            </a:r>
          </a:p>
        </p:txBody>
      </p:sp>
      <p:sp>
        <p:nvSpPr>
          <p:cNvPr id="492" name="TextBox 4"/>
          <p:cNvSpPr txBox="1"/>
          <p:nvPr/>
        </p:nvSpPr>
        <p:spPr>
          <a:xfrm>
            <a:off x="7162800" y="2419350"/>
            <a:ext cx="4292442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ED790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Complete Ecosystem Delivery</a:t>
            </a:r>
          </a:p>
        </p:txBody>
      </p:sp>
      <p:pic>
        <p:nvPicPr>
          <p:cNvPr id="493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62025" y="2486025"/>
            <a:ext cx="381000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494" name="TextBox 6"/>
          <p:cNvSpPr txBox="1"/>
          <p:nvPr/>
        </p:nvSpPr>
        <p:spPr>
          <a:xfrm>
            <a:off x="1057275" y="3524250"/>
            <a:ext cx="9525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95" name="TextBox 7"/>
          <p:cNvSpPr txBox="1"/>
          <p:nvPr/>
        </p:nvSpPr>
        <p:spPr>
          <a:xfrm>
            <a:off x="1247775" y="3524250"/>
            <a:ext cx="4219575" cy="495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000"/>
              </a:lnSpc>
              <a:defRPr b="1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Government Owned:</a:t>
            </a:r>
            <a:r>
              <a:rPr b="0"/>
              <a:t> A highly reliable Navratna CPSE under the Ministry of Railways.</a:t>
            </a:r>
          </a:p>
        </p:txBody>
      </p:sp>
      <p:sp>
        <p:nvSpPr>
          <p:cNvPr id="496" name="TextBox 8"/>
          <p:cNvSpPr txBox="1"/>
          <p:nvPr/>
        </p:nvSpPr>
        <p:spPr>
          <a:xfrm>
            <a:off x="1057275" y="4181475"/>
            <a:ext cx="9525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97" name="TextBox 9"/>
          <p:cNvSpPr txBox="1"/>
          <p:nvPr/>
        </p:nvSpPr>
        <p:spPr>
          <a:xfrm>
            <a:off x="1247775" y="4181475"/>
            <a:ext cx="4219575" cy="495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000"/>
              </a:lnSpc>
              <a:defRPr b="1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Massive Footprint:</a:t>
            </a:r>
            <a:r>
              <a:rPr b="0"/>
              <a:t> Unmatched pan-India ICT infrastructure, fiber network, and Tier-III data centers.</a:t>
            </a:r>
          </a:p>
        </p:txBody>
      </p:sp>
      <p:sp>
        <p:nvSpPr>
          <p:cNvPr id="498" name="TextBox 10"/>
          <p:cNvSpPr txBox="1"/>
          <p:nvPr/>
        </p:nvSpPr>
        <p:spPr>
          <a:xfrm>
            <a:off x="1057275" y="4838700"/>
            <a:ext cx="9525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99" name="TextBox 11"/>
          <p:cNvSpPr txBox="1"/>
          <p:nvPr/>
        </p:nvSpPr>
        <p:spPr>
          <a:xfrm>
            <a:off x="1247775" y="4838700"/>
            <a:ext cx="4219575" cy="749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000"/>
              </a:lnSpc>
              <a:defRPr b="1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Domain Expertise:</a:t>
            </a:r>
            <a:r>
              <a:rPr b="0"/>
              <a:t> Proven, deep engagement and successful deployments within the Indian Judiciary sector.</a:t>
            </a:r>
          </a:p>
        </p:txBody>
      </p:sp>
      <p:pic>
        <p:nvPicPr>
          <p:cNvPr id="500" name="Picture 12" descr="Picture 1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724650" y="2486025"/>
            <a:ext cx="342900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501" name="TextBox 13"/>
          <p:cNvSpPr txBox="1"/>
          <p:nvPr/>
        </p:nvSpPr>
        <p:spPr>
          <a:xfrm>
            <a:off x="6819900" y="3524250"/>
            <a:ext cx="9525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502" name="TextBox 14"/>
          <p:cNvSpPr txBox="1"/>
          <p:nvPr/>
        </p:nvSpPr>
        <p:spPr>
          <a:xfrm>
            <a:off x="7010400" y="3524250"/>
            <a:ext cx="4219575" cy="495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000"/>
              </a:lnSpc>
              <a:defRPr b="1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Build &amp; Host:</a:t>
            </a:r>
            <a:r>
              <a:rPr b="0"/>
              <a:t> Delivering proprietary Judicial Applications alongside the Infrastructure to host them.</a:t>
            </a:r>
          </a:p>
        </p:txBody>
      </p:sp>
      <p:sp>
        <p:nvSpPr>
          <p:cNvPr id="503" name="TextBox 15"/>
          <p:cNvSpPr txBox="1"/>
          <p:nvPr/>
        </p:nvSpPr>
        <p:spPr>
          <a:xfrm>
            <a:off x="6819900" y="4181475"/>
            <a:ext cx="9525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504" name="TextBox 16"/>
          <p:cNvSpPr txBox="1"/>
          <p:nvPr/>
        </p:nvSpPr>
        <p:spPr>
          <a:xfrm>
            <a:off x="7010400" y="4181475"/>
            <a:ext cx="4219575" cy="495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000"/>
              </a:lnSpc>
              <a:defRPr b="1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Connect &amp; Protect:</a:t>
            </a:r>
            <a:r>
              <a:rPr b="0"/>
              <a:t> Integrating Network, Cloud, DR, and comprehensive Cybersecurity (SOC).</a:t>
            </a:r>
          </a:p>
        </p:txBody>
      </p:sp>
      <p:sp>
        <p:nvSpPr>
          <p:cNvPr id="505" name="TextBox 17"/>
          <p:cNvSpPr txBox="1"/>
          <p:nvPr/>
        </p:nvSpPr>
        <p:spPr>
          <a:xfrm>
            <a:off x="6819900" y="4838700"/>
            <a:ext cx="9525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506" name="TextBox 18"/>
          <p:cNvSpPr txBox="1"/>
          <p:nvPr/>
        </p:nvSpPr>
        <p:spPr>
          <a:xfrm>
            <a:off x="7010400" y="4838700"/>
            <a:ext cx="4219575" cy="495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000"/>
              </a:lnSpc>
              <a:defRPr b="1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Operate:</a:t>
            </a:r>
            <a:r>
              <a:rPr b="0"/>
              <a:t> Fully managed lifecycle including Migration, Training, and L1/L2/L3 O&amp;M Support.</a:t>
            </a:r>
          </a:p>
        </p:txBody>
      </p:sp>
      <p:sp>
        <p:nvSpPr>
          <p:cNvPr id="507" name="TextBox 1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004B87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Why RailTel for Mumbai High Court?</a:t>
            </a:r>
          </a:p>
        </p:txBody>
      </p:sp>
      <p:sp>
        <p:nvSpPr>
          <p:cNvPr id="508" name="Rectangle 20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2613025"/>
            <a:ext cx="2547937" cy="20859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05187" y="2613025"/>
            <a:ext cx="2547938" cy="20859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38875" y="2613025"/>
            <a:ext cx="2547937" cy="20859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72561" y="2613025"/>
            <a:ext cx="2547938" cy="2085975"/>
          </a:xfrm>
          <a:prstGeom prst="rect">
            <a:avLst/>
          </a:prstGeom>
          <a:ln w="12700">
            <a:miter lim="400000"/>
          </a:ln>
        </p:spPr>
      </p:pic>
      <p:sp>
        <p:nvSpPr>
          <p:cNvPr id="514" name="TextBox 5"/>
          <p:cNvSpPr txBox="1"/>
          <p:nvPr/>
        </p:nvSpPr>
        <p:spPr>
          <a:xfrm>
            <a:off x="571500" y="3810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Digital Judiciary Analytics</a:t>
            </a:r>
          </a:p>
        </p:txBody>
      </p:sp>
      <p:sp>
        <p:nvSpPr>
          <p:cNvPr id="515" name="Rectangle 6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6" name="TextBox 7"/>
          <p:cNvSpPr txBox="1"/>
          <p:nvPr/>
        </p:nvSpPr>
        <p:spPr>
          <a:xfrm>
            <a:off x="571500" y="1713676"/>
            <a:ext cx="11049000" cy="29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400"/>
              </a:lnSpc>
              <a:defRPr b="1" sz="16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From Judicial Data to Actionable Intelligence</a:t>
            </a:r>
          </a:p>
        </p:txBody>
      </p:sp>
      <p:sp>
        <p:nvSpPr>
          <p:cNvPr id="517" name="TextBox 8"/>
          <p:cNvSpPr txBox="1"/>
          <p:nvPr/>
        </p:nvSpPr>
        <p:spPr>
          <a:xfrm>
            <a:off x="915351" y="3489325"/>
            <a:ext cx="1860233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Judicial Dashboard</a:t>
            </a:r>
          </a:p>
        </p:txBody>
      </p:sp>
      <p:sp>
        <p:nvSpPr>
          <p:cNvPr id="518" name="TextBox 9"/>
          <p:cNvSpPr txBox="1"/>
          <p:nvPr/>
        </p:nvSpPr>
        <p:spPr>
          <a:xfrm>
            <a:off x="771525" y="3841750"/>
            <a:ext cx="2147887" cy="372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Pendency, Disposal rates, Case ageing, Court workload.</a:t>
            </a:r>
          </a:p>
        </p:txBody>
      </p:sp>
      <p:sp>
        <p:nvSpPr>
          <p:cNvPr id="519" name="TextBox 10"/>
          <p:cNvSpPr txBox="1"/>
          <p:nvPr/>
        </p:nvSpPr>
        <p:spPr>
          <a:xfrm>
            <a:off x="3729037" y="3489325"/>
            <a:ext cx="1900237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Registry Dashboard</a:t>
            </a:r>
          </a:p>
        </p:txBody>
      </p:sp>
      <p:sp>
        <p:nvSpPr>
          <p:cNvPr id="520" name="TextBox 11"/>
          <p:cNvSpPr txBox="1"/>
          <p:nvPr/>
        </p:nvSpPr>
        <p:spPr>
          <a:xfrm>
            <a:off x="3605212" y="3841750"/>
            <a:ext cx="2147888" cy="372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Filing trends, Scrutiny delays, Defect patterns, File movement.</a:t>
            </a:r>
          </a:p>
        </p:txBody>
      </p:sp>
      <p:sp>
        <p:nvSpPr>
          <p:cNvPr id="521" name="TextBox 12"/>
          <p:cNvSpPr txBox="1"/>
          <p:nvPr/>
        </p:nvSpPr>
        <p:spPr>
          <a:xfrm>
            <a:off x="6385202" y="3489325"/>
            <a:ext cx="2255282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Administration Dashboard</a:t>
            </a:r>
          </a:p>
        </p:txBody>
      </p:sp>
      <p:sp>
        <p:nvSpPr>
          <p:cNvPr id="522" name="TextBox 13"/>
          <p:cNvSpPr txBox="1"/>
          <p:nvPr/>
        </p:nvSpPr>
        <p:spPr>
          <a:xfrm>
            <a:off x="6438900" y="3844925"/>
            <a:ext cx="2147887" cy="372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Resource allocation, staff performance metrics.</a:t>
            </a:r>
          </a:p>
        </p:txBody>
      </p:sp>
      <p:sp>
        <p:nvSpPr>
          <p:cNvPr id="523" name="TextBox 14"/>
          <p:cNvSpPr txBox="1"/>
          <p:nvPr/>
        </p:nvSpPr>
        <p:spPr>
          <a:xfrm>
            <a:off x="9456419" y="3489325"/>
            <a:ext cx="1780223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IT/NOC Dashboard</a:t>
            </a:r>
          </a:p>
        </p:txBody>
      </p:sp>
      <p:sp>
        <p:nvSpPr>
          <p:cNvPr id="524" name="TextBox 15"/>
          <p:cNvSpPr txBox="1"/>
          <p:nvPr/>
        </p:nvSpPr>
        <p:spPr>
          <a:xfrm>
            <a:off x="9272586" y="3841750"/>
            <a:ext cx="2147888" cy="372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Infrastructure performance, uptime, security events.</a:t>
            </a:r>
          </a:p>
        </p:txBody>
      </p:sp>
      <p:pic>
        <p:nvPicPr>
          <p:cNvPr id="525" name="Picture 16" descr="Picture 1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31156" y="2879725"/>
            <a:ext cx="428626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6" name="Picture 17" descr="Picture 1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488655" y="2879725"/>
            <a:ext cx="381001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7" name="Picture 18" descr="Picture 18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369967" y="2879725"/>
            <a:ext cx="285751" cy="38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8" name="Picture 19" descr="Picture 19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0108406" y="2879725"/>
            <a:ext cx="476251" cy="381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4125" y="1895475"/>
            <a:ext cx="5286375" cy="2724150"/>
          </a:xfrm>
          <a:prstGeom prst="rect">
            <a:avLst/>
          </a:prstGeom>
          <a:ln w="12700">
            <a:miter lim="400000"/>
          </a:ln>
        </p:spPr>
      </p:pic>
      <p:sp>
        <p:nvSpPr>
          <p:cNvPr id="531" name="TextBox 3"/>
          <p:cNvSpPr txBox="1"/>
          <p:nvPr/>
        </p:nvSpPr>
        <p:spPr>
          <a:xfrm>
            <a:off x="571500" y="771525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Future-Ready AI Capabilities</a:t>
            </a:r>
          </a:p>
        </p:txBody>
      </p:sp>
      <p:sp>
        <p:nvSpPr>
          <p:cNvPr id="532" name="Rectangle 4"/>
          <p:cNvSpPr/>
          <p:nvPr/>
        </p:nvSpPr>
        <p:spPr>
          <a:xfrm>
            <a:off x="571500" y="1485900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3" name="TextBox 5"/>
          <p:cNvSpPr txBox="1"/>
          <p:nvPr/>
        </p:nvSpPr>
        <p:spPr>
          <a:xfrm>
            <a:off x="571500" y="1895475"/>
            <a:ext cx="5286375" cy="267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FF6600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AI as an Assistive Layer</a:t>
            </a:r>
          </a:p>
        </p:txBody>
      </p:sp>
      <p:pic>
        <p:nvPicPr>
          <p:cNvPr id="534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19875" y="2181225"/>
            <a:ext cx="4714875" cy="381000"/>
          </a:xfrm>
          <a:prstGeom prst="rect">
            <a:avLst/>
          </a:prstGeom>
          <a:ln w="12700">
            <a:miter lim="400000"/>
          </a:ln>
        </p:spPr>
      </p:pic>
      <p:sp>
        <p:nvSpPr>
          <p:cNvPr id="535" name="TextBox 7"/>
          <p:cNvSpPr txBox="1"/>
          <p:nvPr/>
        </p:nvSpPr>
        <p:spPr>
          <a:xfrm>
            <a:off x="6619875" y="2943225"/>
            <a:ext cx="4950618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Guiding Principle</a:t>
            </a:r>
          </a:p>
        </p:txBody>
      </p:sp>
      <p:sp>
        <p:nvSpPr>
          <p:cNvPr id="536" name="TextBox 8"/>
          <p:cNvSpPr txBox="1"/>
          <p:nvPr/>
        </p:nvSpPr>
        <p:spPr>
          <a:xfrm>
            <a:off x="6619875" y="3562350"/>
            <a:ext cx="4714875" cy="749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000"/>
              </a:lnSpc>
              <a:defRPr sz="13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defRPr>
            </a:pPr>
            <a:r>
              <a:t>AI assists judicial and administrative processes; </a:t>
            </a:r>
            <a:r>
              <a:rPr b="1"/>
              <a:t>judicial decision-making strictly remains with the authorized human authority.</a:t>
            </a:r>
          </a:p>
        </p:txBody>
      </p:sp>
      <p:sp>
        <p:nvSpPr>
          <p:cNvPr id="537" name="TextBox 9"/>
          <p:cNvSpPr txBox="1"/>
          <p:nvPr/>
        </p:nvSpPr>
        <p:spPr>
          <a:xfrm>
            <a:off x="809625" y="2371725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Intelligent document classification</a:t>
            </a:r>
          </a:p>
        </p:txBody>
      </p:sp>
      <p:sp>
        <p:nvSpPr>
          <p:cNvPr id="538" name="TextBox 10"/>
          <p:cNvSpPr txBox="1"/>
          <p:nvPr/>
        </p:nvSpPr>
        <p:spPr>
          <a:xfrm>
            <a:off x="809625" y="2771775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Semantic document search &amp; Case summarization</a:t>
            </a:r>
          </a:p>
        </p:txBody>
      </p:sp>
      <p:sp>
        <p:nvSpPr>
          <p:cNvPr id="539" name="TextBox 11"/>
          <p:cNvSpPr txBox="1"/>
          <p:nvPr/>
        </p:nvSpPr>
        <p:spPr>
          <a:xfrm>
            <a:off x="809625" y="3171825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Similar document/case discovery</a:t>
            </a:r>
          </a:p>
        </p:txBody>
      </p:sp>
      <p:sp>
        <p:nvSpPr>
          <p:cNvPr id="540" name="TextBox 12"/>
          <p:cNvSpPr txBox="1"/>
          <p:nvPr/>
        </p:nvSpPr>
        <p:spPr>
          <a:xfrm>
            <a:off x="809625" y="3571875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Speech-to-text (dictation &amp; proceedings)</a:t>
            </a:r>
          </a:p>
        </p:txBody>
      </p:sp>
      <p:sp>
        <p:nvSpPr>
          <p:cNvPr id="541" name="TextBox 13"/>
          <p:cNvSpPr txBox="1"/>
          <p:nvPr/>
        </p:nvSpPr>
        <p:spPr>
          <a:xfrm>
            <a:off x="809625" y="3971925"/>
            <a:ext cx="5048250" cy="241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Translation assistance (Regional to English)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33536" y="1790700"/>
            <a:ext cx="2019301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4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76687" y="1790700"/>
            <a:ext cx="1019176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45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19712" y="1790700"/>
            <a:ext cx="1466851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110411" y="1790700"/>
            <a:ext cx="1133476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" name="Picture 5" descr="Picture 5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567736" y="1790700"/>
            <a:ext cx="1990726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48" name="Picture 6" descr="Picture 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338386" y="2466975"/>
            <a:ext cx="1685926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49" name="Picture 7" descr="Picture 7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348162" y="2466975"/>
            <a:ext cx="1609726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50" name="Picture 8" descr="Picture 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281737" y="2466975"/>
            <a:ext cx="1514476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51" name="Picture 9" descr="Picture 9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120061" y="2466975"/>
            <a:ext cx="1733551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52" name="Picture 10" descr="Picture 10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733550" y="3143250"/>
            <a:ext cx="2066925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53" name="Picture 11" descr="Picture 11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4124325" y="3143250"/>
            <a:ext cx="2019300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54" name="Picture 12" descr="Picture 12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6467475" y="3143250"/>
            <a:ext cx="1628775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55" name="Picture 13" descr="Picture 13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8420100" y="3143250"/>
            <a:ext cx="1809750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" name="Picture 14" descr="Picture 14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5372100" y="3629025"/>
            <a:ext cx="1447800" cy="371475"/>
          </a:xfrm>
          <a:prstGeom prst="rect">
            <a:avLst/>
          </a:prstGeom>
          <a:ln w="12700">
            <a:miter lim="400000"/>
          </a:ln>
        </p:spPr>
      </p:pic>
      <p:sp>
        <p:nvSpPr>
          <p:cNvPr id="557" name="TextBox 15"/>
          <p:cNvSpPr txBox="1"/>
          <p:nvPr/>
        </p:nvSpPr>
        <p:spPr>
          <a:xfrm>
            <a:off x="571500" y="3810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End-to-End Digital Judiciary: One Connected Journey</a:t>
            </a:r>
          </a:p>
        </p:txBody>
      </p:sp>
      <p:sp>
        <p:nvSpPr>
          <p:cNvPr id="558" name="Rectangle 16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9" name="TextBox 17"/>
          <p:cNvSpPr txBox="1"/>
          <p:nvPr/>
        </p:nvSpPr>
        <p:spPr>
          <a:xfrm>
            <a:off x="4265612" y="4614862"/>
            <a:ext cx="5395120" cy="332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b="1" sz="20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Every step digitally connected.</a:t>
            </a:r>
          </a:p>
        </p:txBody>
      </p:sp>
      <p:pic>
        <p:nvPicPr>
          <p:cNvPr id="560" name="Picture 18" descr="Picture 18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3748087" y="1909761"/>
            <a:ext cx="133351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1" name="Picture 19" descr="Picture 19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5091112" y="1909761"/>
            <a:ext cx="133351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2" name="Picture 20" descr="Picture 20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6881811" y="1909761"/>
            <a:ext cx="133351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3" name="Picture 21" descr="Picture 21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8339136" y="1909761"/>
            <a:ext cx="133351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4" name="Picture 22" descr="Picture 22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4119562" y="2586036"/>
            <a:ext cx="133351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5" name="Picture 23" descr="Picture 23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6053137" y="2586036"/>
            <a:ext cx="133351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6" name="Picture 24" descr="Picture 24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7891461" y="2586036"/>
            <a:ext cx="133351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7" name="Picture 25" descr="Picture 25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3895725" y="3262312"/>
            <a:ext cx="133350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8" name="Picture 26" descr="Picture 26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6238875" y="3262312"/>
            <a:ext cx="133350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9" name="Picture 27" descr="Picture 27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8191500" y="3262312"/>
            <a:ext cx="133350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70" name="Picture 28" descr="Picture 28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10325100" y="3262312"/>
            <a:ext cx="133350" cy="152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9187" y="2679700"/>
            <a:ext cx="2381251" cy="9429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7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43312" y="2679700"/>
            <a:ext cx="2381251" cy="9429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7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67437" y="2679700"/>
            <a:ext cx="2381251" cy="9429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7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91561" y="2679700"/>
            <a:ext cx="2381251" cy="9429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76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9187" y="3765550"/>
            <a:ext cx="2381251" cy="7572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77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43312" y="3765550"/>
            <a:ext cx="2381251" cy="7572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78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67437" y="3765550"/>
            <a:ext cx="2381251" cy="7572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79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91561" y="3765550"/>
            <a:ext cx="2381251" cy="757238"/>
          </a:xfrm>
          <a:prstGeom prst="rect">
            <a:avLst/>
          </a:prstGeom>
          <a:ln w="12700">
            <a:miter lim="400000"/>
          </a:ln>
        </p:spPr>
      </p:pic>
      <p:sp>
        <p:nvSpPr>
          <p:cNvPr id="580" name="TextBox 9"/>
          <p:cNvSpPr txBox="1"/>
          <p:nvPr/>
        </p:nvSpPr>
        <p:spPr>
          <a:xfrm>
            <a:off x="571500" y="3810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RailTel Delivery Model</a:t>
            </a:r>
          </a:p>
        </p:txBody>
      </p:sp>
      <p:sp>
        <p:nvSpPr>
          <p:cNvPr id="581" name="Rectangle 10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2" name="TextBox 11"/>
          <p:cNvSpPr txBox="1"/>
          <p:nvPr/>
        </p:nvSpPr>
        <p:spPr>
          <a:xfrm>
            <a:off x="990600" y="1685293"/>
            <a:ext cx="11049000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200"/>
              </a:lnSpc>
              <a:defRPr b="1" sz="160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One Partner. Complete Technology Ecosystem.</a:t>
            </a:r>
          </a:p>
        </p:txBody>
      </p:sp>
      <p:sp>
        <p:nvSpPr>
          <p:cNvPr id="583" name="TextBox 12"/>
          <p:cNvSpPr txBox="1"/>
          <p:nvPr/>
        </p:nvSpPr>
        <p:spPr>
          <a:xfrm>
            <a:off x="1219676" y="2860675"/>
            <a:ext cx="2180272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CONSULT</a:t>
            </a:r>
          </a:p>
        </p:txBody>
      </p:sp>
      <p:sp>
        <p:nvSpPr>
          <p:cNvPr id="584" name="TextBox 13"/>
          <p:cNvSpPr txBox="1"/>
          <p:nvPr/>
        </p:nvSpPr>
        <p:spPr>
          <a:xfrm>
            <a:off x="1271587" y="3098800"/>
            <a:ext cx="2076451" cy="168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9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Assessment &amp; Process Re-engineering</a:t>
            </a:r>
          </a:p>
        </p:txBody>
      </p:sp>
      <p:sp>
        <p:nvSpPr>
          <p:cNvPr id="585" name="TextBox 14"/>
          <p:cNvSpPr txBox="1"/>
          <p:nvPr/>
        </p:nvSpPr>
        <p:spPr>
          <a:xfrm>
            <a:off x="3743800" y="2860675"/>
            <a:ext cx="218027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DESIGN</a:t>
            </a:r>
          </a:p>
        </p:txBody>
      </p:sp>
      <p:sp>
        <p:nvSpPr>
          <p:cNvPr id="586" name="TextBox 15"/>
          <p:cNvSpPr txBox="1"/>
          <p:nvPr/>
        </p:nvSpPr>
        <p:spPr>
          <a:xfrm>
            <a:off x="3795712" y="3098800"/>
            <a:ext cx="2076451" cy="168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9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Architecture &amp; Solution Design</a:t>
            </a:r>
          </a:p>
        </p:txBody>
      </p:sp>
      <p:sp>
        <p:nvSpPr>
          <p:cNvPr id="587" name="TextBox 16"/>
          <p:cNvSpPr txBox="1"/>
          <p:nvPr/>
        </p:nvSpPr>
        <p:spPr>
          <a:xfrm>
            <a:off x="6267925" y="2860675"/>
            <a:ext cx="218027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BUILD</a:t>
            </a:r>
          </a:p>
        </p:txBody>
      </p:sp>
      <p:sp>
        <p:nvSpPr>
          <p:cNvPr id="588" name="TextBox 17"/>
          <p:cNvSpPr txBox="1"/>
          <p:nvPr/>
        </p:nvSpPr>
        <p:spPr>
          <a:xfrm>
            <a:off x="6319837" y="3098800"/>
            <a:ext cx="2076451" cy="168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9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Applications &amp; Infrastructure</a:t>
            </a:r>
          </a:p>
        </p:txBody>
      </p:sp>
      <p:sp>
        <p:nvSpPr>
          <p:cNvPr id="589" name="TextBox 18"/>
          <p:cNvSpPr txBox="1"/>
          <p:nvPr/>
        </p:nvSpPr>
        <p:spPr>
          <a:xfrm>
            <a:off x="8792050" y="2860675"/>
            <a:ext cx="218027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INTEGRATE</a:t>
            </a:r>
          </a:p>
        </p:txBody>
      </p:sp>
      <p:sp>
        <p:nvSpPr>
          <p:cNvPr id="590" name="TextBox 19"/>
          <p:cNvSpPr txBox="1"/>
          <p:nvPr/>
        </p:nvSpPr>
        <p:spPr>
          <a:xfrm>
            <a:off x="8843961" y="3098800"/>
            <a:ext cx="2076451" cy="168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9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Systems &amp; Data Integration</a:t>
            </a:r>
          </a:p>
        </p:txBody>
      </p:sp>
      <p:sp>
        <p:nvSpPr>
          <p:cNvPr id="591" name="TextBox 20"/>
          <p:cNvSpPr txBox="1"/>
          <p:nvPr/>
        </p:nvSpPr>
        <p:spPr>
          <a:xfrm>
            <a:off x="1219676" y="3946525"/>
            <a:ext cx="2180272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MIGRATE</a:t>
            </a:r>
          </a:p>
        </p:txBody>
      </p:sp>
      <p:sp>
        <p:nvSpPr>
          <p:cNvPr id="592" name="TextBox 21"/>
          <p:cNvSpPr txBox="1"/>
          <p:nvPr/>
        </p:nvSpPr>
        <p:spPr>
          <a:xfrm>
            <a:off x="1271587" y="4184650"/>
            <a:ext cx="2076451" cy="168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9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Data &amp; Application Migration</a:t>
            </a:r>
          </a:p>
        </p:txBody>
      </p:sp>
      <p:sp>
        <p:nvSpPr>
          <p:cNvPr id="593" name="TextBox 22"/>
          <p:cNvSpPr txBox="1"/>
          <p:nvPr/>
        </p:nvSpPr>
        <p:spPr>
          <a:xfrm>
            <a:off x="3743800" y="3946525"/>
            <a:ext cx="218027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TEST</a:t>
            </a:r>
          </a:p>
        </p:txBody>
      </p:sp>
      <p:sp>
        <p:nvSpPr>
          <p:cNvPr id="594" name="TextBox 23"/>
          <p:cNvSpPr txBox="1"/>
          <p:nvPr/>
        </p:nvSpPr>
        <p:spPr>
          <a:xfrm>
            <a:off x="3795712" y="4184650"/>
            <a:ext cx="2076451" cy="168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9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UAT / Security / Performance</a:t>
            </a:r>
          </a:p>
        </p:txBody>
      </p:sp>
      <p:sp>
        <p:nvSpPr>
          <p:cNvPr id="595" name="TextBox 24"/>
          <p:cNvSpPr txBox="1"/>
          <p:nvPr/>
        </p:nvSpPr>
        <p:spPr>
          <a:xfrm>
            <a:off x="6267925" y="3946525"/>
            <a:ext cx="218027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DEPLOY</a:t>
            </a:r>
          </a:p>
        </p:txBody>
      </p:sp>
      <p:sp>
        <p:nvSpPr>
          <p:cNvPr id="596" name="TextBox 25"/>
          <p:cNvSpPr txBox="1"/>
          <p:nvPr/>
        </p:nvSpPr>
        <p:spPr>
          <a:xfrm>
            <a:off x="6319837" y="4184650"/>
            <a:ext cx="2076451" cy="168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9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Phased Go-Live</a:t>
            </a:r>
          </a:p>
        </p:txBody>
      </p:sp>
      <p:sp>
        <p:nvSpPr>
          <p:cNvPr id="597" name="TextBox 26"/>
          <p:cNvSpPr txBox="1"/>
          <p:nvPr/>
        </p:nvSpPr>
        <p:spPr>
          <a:xfrm>
            <a:off x="8792050" y="3946525"/>
            <a:ext cx="2180273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OPERATE</a:t>
            </a:r>
          </a:p>
        </p:txBody>
      </p:sp>
      <p:sp>
        <p:nvSpPr>
          <p:cNvPr id="598" name="TextBox 27"/>
          <p:cNvSpPr txBox="1"/>
          <p:nvPr/>
        </p:nvSpPr>
        <p:spPr>
          <a:xfrm>
            <a:off x="8843961" y="4184650"/>
            <a:ext cx="2076451" cy="168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9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Managed Services &amp; O&amp;M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extBox 2"/>
          <p:cNvSpPr txBox="1"/>
          <p:nvPr/>
        </p:nvSpPr>
        <p:spPr>
          <a:xfrm>
            <a:off x="571500" y="771525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Implementation Roadmap</a:t>
            </a:r>
          </a:p>
        </p:txBody>
      </p:sp>
      <p:sp>
        <p:nvSpPr>
          <p:cNvPr id="601" name="Rectangle 3"/>
          <p:cNvSpPr/>
          <p:nvPr/>
        </p:nvSpPr>
        <p:spPr>
          <a:xfrm>
            <a:off x="571500" y="1485900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2" name="TextBox 4"/>
          <p:cNvSpPr txBox="1"/>
          <p:nvPr/>
        </p:nvSpPr>
        <p:spPr>
          <a:xfrm>
            <a:off x="571500" y="1895475"/>
            <a:ext cx="11049000" cy="247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000"/>
              </a:lnSpc>
              <a:defRPr b="1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A Phased &amp; Low-Risk Transformation</a:t>
            </a:r>
          </a:p>
        </p:txBody>
      </p:sp>
      <p:sp>
        <p:nvSpPr>
          <p:cNvPr id="603" name="Rounded Rectangle 5"/>
          <p:cNvSpPr/>
          <p:nvPr/>
        </p:nvSpPr>
        <p:spPr>
          <a:xfrm>
            <a:off x="1123950" y="2343150"/>
            <a:ext cx="9944100" cy="43338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604" name="Table 6"/>
          <p:cNvGraphicFramePr/>
          <p:nvPr/>
        </p:nvGraphicFramePr>
        <p:xfrm>
          <a:off x="1123950" y="2343150"/>
          <a:ext cx="9944100" cy="4333875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428750"/>
                <a:gridCol w="8515350"/>
              </a:tblGrid>
              <a:tr h="54173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0033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Phase 1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defRPr>
                      </a:pPr>
                      <a:r>
                        <a:t>Assess:</a:t>
                      </a:r>
                      <a:r>
                        <a:rPr b="0"/>
                        <a:t> Current-state assessment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4173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0033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Phase 2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defRPr>
                      </a:pPr>
                      <a:r>
                        <a:t>Design:</a:t>
                      </a:r>
                      <a:r>
                        <a:rPr b="0"/>
                        <a:t> Target architecture and workflows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0033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Phase 3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defRPr>
                      </a:pPr>
                      <a:r>
                        <a:t>Build:</a:t>
                      </a:r>
                      <a:r>
                        <a:rPr b="0"/>
                        <a:t> Applications + infrastructure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4173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0033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Phase 4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defRPr>
                      </a:pPr>
                      <a:r>
                        <a:t>Integrate:</a:t>
                      </a:r>
                      <a:r>
                        <a:rPr b="0"/>
                        <a:t> Applications, network and external systems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0033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Phase 5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defRPr>
                      </a:pPr>
                      <a:r>
                        <a:t>Digitize &amp; Migrate:</a:t>
                      </a:r>
                      <a:r>
                        <a:rPr b="0"/>
                        <a:t> Records and legacy data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4173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0033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Phase 6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defRPr>
                      </a:pPr>
                      <a:r>
                        <a:t>Test:</a:t>
                      </a:r>
                      <a:r>
                        <a:rPr b="0"/>
                        <a:t> UAT + security + performance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0033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Phase 7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defRPr>
                      </a:pPr>
                      <a:r>
                        <a:t>Go-Live:</a:t>
                      </a:r>
                      <a:r>
                        <a:rPr b="0"/>
                        <a:t> Phased deployment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4173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003366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Phase 8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defRPr>
                      </a:pPr>
                      <a:r>
                        <a:t>Operate:</a:t>
                      </a:r>
                      <a:r>
                        <a:rPr b="0"/>
                        <a:t> O&amp;M + managed services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05" name="Rectangle 7"/>
          <p:cNvSpPr/>
          <p:nvPr/>
        </p:nvSpPr>
        <p:spPr>
          <a:xfrm>
            <a:off x="1123950" y="2870199"/>
            <a:ext cx="14287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6" name="Rectangle 8"/>
          <p:cNvSpPr/>
          <p:nvPr/>
        </p:nvSpPr>
        <p:spPr>
          <a:xfrm>
            <a:off x="2552700" y="2870199"/>
            <a:ext cx="85153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7" name="Rectangle 9"/>
          <p:cNvSpPr/>
          <p:nvPr/>
        </p:nvSpPr>
        <p:spPr>
          <a:xfrm>
            <a:off x="1123950" y="3413124"/>
            <a:ext cx="14287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8" name="Rectangle 10"/>
          <p:cNvSpPr/>
          <p:nvPr/>
        </p:nvSpPr>
        <p:spPr>
          <a:xfrm>
            <a:off x="2552700" y="3413124"/>
            <a:ext cx="85153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9" name="Rectangle 11"/>
          <p:cNvSpPr/>
          <p:nvPr/>
        </p:nvSpPr>
        <p:spPr>
          <a:xfrm>
            <a:off x="1123950" y="3956049"/>
            <a:ext cx="14287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Rectangle 12"/>
          <p:cNvSpPr/>
          <p:nvPr/>
        </p:nvSpPr>
        <p:spPr>
          <a:xfrm>
            <a:off x="2552700" y="3956049"/>
            <a:ext cx="85153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1" name="Rectangle 13"/>
          <p:cNvSpPr/>
          <p:nvPr/>
        </p:nvSpPr>
        <p:spPr>
          <a:xfrm>
            <a:off x="1123950" y="4498974"/>
            <a:ext cx="14287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2" name="Rectangle 14"/>
          <p:cNvSpPr/>
          <p:nvPr/>
        </p:nvSpPr>
        <p:spPr>
          <a:xfrm>
            <a:off x="2552700" y="4498974"/>
            <a:ext cx="85153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3" name="Rectangle 15"/>
          <p:cNvSpPr/>
          <p:nvPr/>
        </p:nvSpPr>
        <p:spPr>
          <a:xfrm>
            <a:off x="1123950" y="5041899"/>
            <a:ext cx="14287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4" name="Rectangle 16"/>
          <p:cNvSpPr/>
          <p:nvPr/>
        </p:nvSpPr>
        <p:spPr>
          <a:xfrm>
            <a:off x="2552700" y="5041899"/>
            <a:ext cx="85153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Rectangle 17"/>
          <p:cNvSpPr/>
          <p:nvPr/>
        </p:nvSpPr>
        <p:spPr>
          <a:xfrm>
            <a:off x="1123950" y="5584824"/>
            <a:ext cx="14287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6" name="Rectangle 18"/>
          <p:cNvSpPr/>
          <p:nvPr/>
        </p:nvSpPr>
        <p:spPr>
          <a:xfrm>
            <a:off x="2552700" y="5584824"/>
            <a:ext cx="85153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7" name="Rectangle 19"/>
          <p:cNvSpPr/>
          <p:nvPr/>
        </p:nvSpPr>
        <p:spPr>
          <a:xfrm>
            <a:off x="1123950" y="6127749"/>
            <a:ext cx="14287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8" name="Rectangle 20"/>
          <p:cNvSpPr/>
          <p:nvPr/>
        </p:nvSpPr>
        <p:spPr>
          <a:xfrm>
            <a:off x="2552700" y="6127749"/>
            <a:ext cx="85153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2333625"/>
            <a:ext cx="5429250" cy="828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2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91250" y="2333625"/>
            <a:ext cx="5429250" cy="828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2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3352800"/>
            <a:ext cx="5429250" cy="828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2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91250" y="3352800"/>
            <a:ext cx="5429250" cy="828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2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4371975"/>
            <a:ext cx="5429250" cy="828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2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91250" y="4371975"/>
            <a:ext cx="5429250" cy="828675"/>
          </a:xfrm>
          <a:prstGeom prst="rect">
            <a:avLst/>
          </a:prstGeom>
          <a:ln w="12700">
            <a:miter lim="400000"/>
          </a:ln>
        </p:spPr>
      </p:pic>
      <p:sp>
        <p:nvSpPr>
          <p:cNvPr id="626" name="TextBox 7"/>
          <p:cNvSpPr txBox="1"/>
          <p:nvPr/>
        </p:nvSpPr>
        <p:spPr>
          <a:xfrm>
            <a:off x="571500" y="3810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What RailTel Can Deliver</a:t>
            </a:r>
          </a:p>
        </p:txBody>
      </p:sp>
      <p:sp>
        <p:nvSpPr>
          <p:cNvPr id="627" name="Rectangle 8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8" name="TextBox 9"/>
          <p:cNvSpPr txBox="1"/>
          <p:nvPr/>
        </p:nvSpPr>
        <p:spPr>
          <a:xfrm>
            <a:off x="571500" y="1567975"/>
            <a:ext cx="11049000" cy="247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000"/>
              </a:lnSpc>
              <a:defRPr b="1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Complete Deliverable Portfolio</a:t>
            </a:r>
          </a:p>
        </p:txBody>
      </p:sp>
      <p:sp>
        <p:nvSpPr>
          <p:cNvPr id="629" name="TextBox 10"/>
          <p:cNvSpPr txBox="1"/>
          <p:nvPr/>
        </p:nvSpPr>
        <p:spPr>
          <a:xfrm>
            <a:off x="723900" y="2514600"/>
            <a:ext cx="5380672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DIGITAL JUDICIARY</a:t>
            </a:r>
          </a:p>
        </p:txBody>
      </p:sp>
      <p:sp>
        <p:nvSpPr>
          <p:cNvPr id="630" name="Rectangle 11"/>
          <p:cNvSpPr/>
          <p:nvPr/>
        </p:nvSpPr>
        <p:spPr>
          <a:xfrm>
            <a:off x="723900" y="2798762"/>
            <a:ext cx="51244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1" name="TextBox 12"/>
          <p:cNvSpPr txBox="1"/>
          <p:nvPr/>
        </p:nvSpPr>
        <p:spPr>
          <a:xfrm>
            <a:off x="723900" y="2809875"/>
            <a:ext cx="5124450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e-Filing • Registration • Scrutiny • Paperless Court • Digital Court • File Movement</a:t>
            </a:r>
          </a:p>
        </p:txBody>
      </p:sp>
      <p:sp>
        <p:nvSpPr>
          <p:cNvPr id="632" name="TextBox 13"/>
          <p:cNvSpPr txBox="1"/>
          <p:nvPr/>
        </p:nvSpPr>
        <p:spPr>
          <a:xfrm>
            <a:off x="6343650" y="2514600"/>
            <a:ext cx="5380672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DIGITAL RECORDS</a:t>
            </a:r>
          </a:p>
        </p:txBody>
      </p:sp>
      <p:sp>
        <p:nvSpPr>
          <p:cNvPr id="633" name="Rectangle 14"/>
          <p:cNvSpPr/>
          <p:nvPr/>
        </p:nvSpPr>
        <p:spPr>
          <a:xfrm>
            <a:off x="6343650" y="2798762"/>
            <a:ext cx="51244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4" name="TextBox 15"/>
          <p:cNvSpPr txBox="1"/>
          <p:nvPr/>
        </p:nvSpPr>
        <p:spPr>
          <a:xfrm>
            <a:off x="6343650" y="2809875"/>
            <a:ext cx="5124450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Scanning • OCR • Indexing • DMS • Repository • Preservation</a:t>
            </a:r>
          </a:p>
        </p:txBody>
      </p:sp>
      <p:sp>
        <p:nvSpPr>
          <p:cNvPr id="635" name="TextBox 16"/>
          <p:cNvSpPr txBox="1"/>
          <p:nvPr/>
        </p:nvSpPr>
        <p:spPr>
          <a:xfrm>
            <a:off x="723900" y="3533775"/>
            <a:ext cx="5380672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COURT SERVICES</a:t>
            </a:r>
          </a:p>
        </p:txBody>
      </p:sp>
      <p:sp>
        <p:nvSpPr>
          <p:cNvPr id="636" name="Rectangle 17"/>
          <p:cNvSpPr/>
          <p:nvPr/>
        </p:nvSpPr>
        <p:spPr>
          <a:xfrm>
            <a:off x="723900" y="3817937"/>
            <a:ext cx="51244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7" name="TextBox 18"/>
          <p:cNvSpPr txBox="1"/>
          <p:nvPr/>
        </p:nvSpPr>
        <p:spPr>
          <a:xfrm>
            <a:off x="723900" y="3829050"/>
            <a:ext cx="5124450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e-Copy • e-Inspection • Cause List • Display Board • Digital Orders</a:t>
            </a:r>
          </a:p>
        </p:txBody>
      </p:sp>
      <p:sp>
        <p:nvSpPr>
          <p:cNvPr id="638" name="TextBox 19"/>
          <p:cNvSpPr txBox="1"/>
          <p:nvPr/>
        </p:nvSpPr>
        <p:spPr>
          <a:xfrm>
            <a:off x="6343650" y="3533775"/>
            <a:ext cx="5380672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NETWORK</a:t>
            </a:r>
          </a:p>
        </p:txBody>
      </p:sp>
      <p:sp>
        <p:nvSpPr>
          <p:cNvPr id="639" name="Rectangle 20"/>
          <p:cNvSpPr/>
          <p:nvPr/>
        </p:nvSpPr>
        <p:spPr>
          <a:xfrm>
            <a:off x="6343650" y="3817937"/>
            <a:ext cx="51244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0" name="TextBox 21"/>
          <p:cNvSpPr txBox="1"/>
          <p:nvPr/>
        </p:nvSpPr>
        <p:spPr>
          <a:xfrm>
            <a:off x="6343650" y="3829050"/>
            <a:ext cx="5124450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LAN • WAN • MPLS • VPN • Internet • NOC</a:t>
            </a:r>
          </a:p>
        </p:txBody>
      </p:sp>
      <p:sp>
        <p:nvSpPr>
          <p:cNvPr id="641" name="TextBox 22"/>
          <p:cNvSpPr txBox="1"/>
          <p:nvPr/>
        </p:nvSpPr>
        <p:spPr>
          <a:xfrm>
            <a:off x="723900" y="4552950"/>
            <a:ext cx="5380672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DATA CENTRE &amp; CLOUD</a:t>
            </a:r>
          </a:p>
        </p:txBody>
      </p:sp>
      <p:sp>
        <p:nvSpPr>
          <p:cNvPr id="642" name="Rectangle 23"/>
          <p:cNvSpPr/>
          <p:nvPr/>
        </p:nvSpPr>
        <p:spPr>
          <a:xfrm>
            <a:off x="723900" y="4837112"/>
            <a:ext cx="51244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3" name="TextBox 24"/>
          <p:cNvSpPr txBox="1"/>
          <p:nvPr/>
        </p:nvSpPr>
        <p:spPr>
          <a:xfrm>
            <a:off x="723900" y="4848225"/>
            <a:ext cx="5124450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Hosting • Servers • Storage • Load Balancing • Security • Private/Hybrid Cloud</a:t>
            </a:r>
          </a:p>
        </p:txBody>
      </p:sp>
      <p:sp>
        <p:nvSpPr>
          <p:cNvPr id="644" name="TextBox 25"/>
          <p:cNvSpPr txBox="1"/>
          <p:nvPr/>
        </p:nvSpPr>
        <p:spPr>
          <a:xfrm>
            <a:off x="6343650" y="4552950"/>
            <a:ext cx="5380672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RESILIENCE, SECURITY &amp; OPS</a:t>
            </a:r>
          </a:p>
        </p:txBody>
      </p:sp>
      <p:sp>
        <p:nvSpPr>
          <p:cNvPr id="645" name="Rectangle 26"/>
          <p:cNvSpPr/>
          <p:nvPr/>
        </p:nvSpPr>
        <p:spPr>
          <a:xfrm>
            <a:off x="6343650" y="4837112"/>
            <a:ext cx="512445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6" name="TextBox 27"/>
          <p:cNvSpPr txBox="1"/>
          <p:nvPr/>
        </p:nvSpPr>
        <p:spPr>
          <a:xfrm>
            <a:off x="6343650" y="4848225"/>
            <a:ext cx="5124450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Backup • DR • Firewall • SOC • Implementation • Migration • Managed Services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1885950"/>
            <a:ext cx="3492401" cy="16668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49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49650" y="1885950"/>
            <a:ext cx="3492549" cy="16668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50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27949" y="1885950"/>
            <a:ext cx="3492401" cy="16668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5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3838575"/>
            <a:ext cx="3492401" cy="16668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52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49650" y="3838575"/>
            <a:ext cx="3492549" cy="1666875"/>
          </a:xfrm>
          <a:prstGeom prst="rect">
            <a:avLst/>
          </a:prstGeom>
          <a:ln w="12700">
            <a:miter lim="400000"/>
          </a:ln>
        </p:spPr>
      </p:pic>
      <p:pic>
        <p:nvPicPr>
          <p:cNvPr id="653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27949" y="3838575"/>
            <a:ext cx="3492401" cy="1666875"/>
          </a:xfrm>
          <a:prstGeom prst="rect">
            <a:avLst/>
          </a:prstGeom>
          <a:ln w="12700">
            <a:miter lim="400000"/>
          </a:ln>
        </p:spPr>
      </p:pic>
      <p:sp>
        <p:nvSpPr>
          <p:cNvPr id="654" name="TextBox 7"/>
          <p:cNvSpPr txBox="1"/>
          <p:nvPr/>
        </p:nvSpPr>
        <p:spPr>
          <a:xfrm>
            <a:off x="571500" y="3810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Expected Outcomes: Transformation Impact</a:t>
            </a:r>
          </a:p>
        </p:txBody>
      </p:sp>
      <p:sp>
        <p:nvSpPr>
          <p:cNvPr id="655" name="Rectangle 8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56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66775" y="2209800"/>
            <a:ext cx="2901851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657" name="TextBox 10"/>
          <p:cNvSpPr txBox="1"/>
          <p:nvPr/>
        </p:nvSpPr>
        <p:spPr>
          <a:xfrm>
            <a:off x="794227" y="2590800"/>
            <a:ext cx="3046945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FOR JUDGES</a:t>
            </a:r>
          </a:p>
        </p:txBody>
      </p:sp>
      <p:sp>
        <p:nvSpPr>
          <p:cNvPr id="658" name="TextBox 11"/>
          <p:cNvSpPr txBox="1"/>
          <p:nvPr/>
        </p:nvSpPr>
        <p:spPr>
          <a:xfrm>
            <a:off x="866775" y="2828925"/>
            <a:ext cx="2901851" cy="39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Faster access to complete, digital case information.</a:t>
            </a:r>
          </a:p>
        </p:txBody>
      </p:sp>
      <p:pic>
        <p:nvPicPr>
          <p:cNvPr id="659" name="Picture 12" descr="Picture 1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644925" y="2209800"/>
            <a:ext cx="2902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660" name="TextBox 13"/>
          <p:cNvSpPr txBox="1"/>
          <p:nvPr/>
        </p:nvSpPr>
        <p:spPr>
          <a:xfrm>
            <a:off x="4572375" y="2590800"/>
            <a:ext cx="3047100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FOR REGISTRY</a:t>
            </a:r>
          </a:p>
        </p:txBody>
      </p:sp>
      <p:sp>
        <p:nvSpPr>
          <p:cNvPr id="661" name="TextBox 14"/>
          <p:cNvSpPr txBox="1"/>
          <p:nvPr/>
        </p:nvSpPr>
        <p:spPr>
          <a:xfrm>
            <a:off x="4644925" y="2828925"/>
            <a:ext cx="2902000" cy="39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Reduced manual processing and better workflow visibility.</a:t>
            </a:r>
          </a:p>
        </p:txBody>
      </p:sp>
      <p:pic>
        <p:nvPicPr>
          <p:cNvPr id="662" name="Picture 15" descr="Picture 1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423224" y="2209800"/>
            <a:ext cx="2901851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663" name="TextBox 16"/>
          <p:cNvSpPr txBox="1"/>
          <p:nvPr/>
        </p:nvSpPr>
        <p:spPr>
          <a:xfrm>
            <a:off x="8350678" y="2590800"/>
            <a:ext cx="3046944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FOR ADVOCATES</a:t>
            </a:r>
          </a:p>
        </p:txBody>
      </p:sp>
      <p:sp>
        <p:nvSpPr>
          <p:cNvPr id="664" name="TextBox 17"/>
          <p:cNvSpPr txBox="1"/>
          <p:nvPr/>
        </p:nvSpPr>
        <p:spPr>
          <a:xfrm>
            <a:off x="8423224" y="2828925"/>
            <a:ext cx="2901851" cy="39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Convenient digital filing and instant document access.</a:t>
            </a:r>
          </a:p>
        </p:txBody>
      </p:sp>
      <p:pic>
        <p:nvPicPr>
          <p:cNvPr id="665" name="Picture 18" descr="Picture 18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66775" y="4162425"/>
            <a:ext cx="2901851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666" name="TextBox 19"/>
          <p:cNvSpPr txBox="1"/>
          <p:nvPr/>
        </p:nvSpPr>
        <p:spPr>
          <a:xfrm>
            <a:off x="794227" y="4543425"/>
            <a:ext cx="3046945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FOR CITIZENS</a:t>
            </a:r>
          </a:p>
        </p:txBody>
      </p:sp>
      <p:sp>
        <p:nvSpPr>
          <p:cNvPr id="667" name="TextBox 20"/>
          <p:cNvSpPr txBox="1"/>
          <p:nvPr/>
        </p:nvSpPr>
        <p:spPr>
          <a:xfrm>
            <a:off x="866775" y="4781550"/>
            <a:ext cx="2901851" cy="39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Improved accessibility and transparency in justice delivery.</a:t>
            </a:r>
          </a:p>
        </p:txBody>
      </p:sp>
      <p:pic>
        <p:nvPicPr>
          <p:cNvPr id="668" name="Picture 21" descr="Picture 21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644925" y="4162425"/>
            <a:ext cx="2902000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669" name="TextBox 22"/>
          <p:cNvSpPr txBox="1"/>
          <p:nvPr/>
        </p:nvSpPr>
        <p:spPr>
          <a:xfrm>
            <a:off x="4572375" y="4543425"/>
            <a:ext cx="3047100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FOR ADMINISTRATION</a:t>
            </a:r>
          </a:p>
        </p:txBody>
      </p:sp>
      <p:sp>
        <p:nvSpPr>
          <p:cNvPr id="670" name="TextBox 23"/>
          <p:cNvSpPr txBox="1"/>
          <p:nvPr/>
        </p:nvSpPr>
        <p:spPr>
          <a:xfrm>
            <a:off x="4644925" y="4781550"/>
            <a:ext cx="2902000" cy="194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Real-time monitoring and actionable analytics.</a:t>
            </a:r>
          </a:p>
        </p:txBody>
      </p:sp>
      <p:pic>
        <p:nvPicPr>
          <p:cNvPr id="671" name="Picture 24" descr="Picture 24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423224" y="4162425"/>
            <a:ext cx="2901851" cy="285750"/>
          </a:xfrm>
          <a:prstGeom prst="rect">
            <a:avLst/>
          </a:prstGeom>
          <a:ln w="12700">
            <a:miter lim="400000"/>
          </a:ln>
        </p:spPr>
      </p:pic>
      <p:sp>
        <p:nvSpPr>
          <p:cNvPr id="672" name="TextBox 25"/>
          <p:cNvSpPr txBox="1"/>
          <p:nvPr/>
        </p:nvSpPr>
        <p:spPr>
          <a:xfrm>
            <a:off x="8350678" y="4543425"/>
            <a:ext cx="3046944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FOR IT</a:t>
            </a:r>
          </a:p>
        </p:txBody>
      </p:sp>
      <p:sp>
        <p:nvSpPr>
          <p:cNvPr id="673" name="TextBox 26"/>
          <p:cNvSpPr txBox="1"/>
          <p:nvPr/>
        </p:nvSpPr>
        <p:spPr>
          <a:xfrm>
            <a:off x="8423224" y="4781550"/>
            <a:ext cx="2901851" cy="39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Secure, scalable, managed, and resilient infrastructure.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" y="2105025"/>
            <a:ext cx="5286375" cy="41243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76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34125" y="2105025"/>
            <a:ext cx="5286375" cy="41243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77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6326" y="3600450"/>
            <a:ext cx="3756571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78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36326" y="4086225"/>
            <a:ext cx="3756571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79" name="Picture 5" descr="Picture 5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336326" y="4572000"/>
            <a:ext cx="3756571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0" name="Picture 6" descr="Picture 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336326" y="5057775"/>
            <a:ext cx="3756571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1" name="Picture 7" descr="Picture 7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336326" y="5543550"/>
            <a:ext cx="3756571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2" name="Picture 8" descr="Picture 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807992" y="3590925"/>
            <a:ext cx="2121694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3" name="Picture 9" descr="Picture 9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9024936" y="3590925"/>
            <a:ext cx="2121694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4" name="Picture 10" descr="Picture 10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6807992" y="4076700"/>
            <a:ext cx="2121694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5" name="Picture 11" descr="Picture 11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9024936" y="4076700"/>
            <a:ext cx="2121694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6" name="Picture 12" descr="Picture 12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6807992" y="4562475"/>
            <a:ext cx="2121694" cy="390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687" name="Picture 13" descr="Picture 13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9024936" y="4562475"/>
            <a:ext cx="2121694" cy="390525"/>
          </a:xfrm>
          <a:prstGeom prst="rect">
            <a:avLst/>
          </a:prstGeom>
          <a:ln w="12700">
            <a:miter lim="400000"/>
          </a:ln>
        </p:spPr>
      </p:pic>
      <p:sp>
        <p:nvSpPr>
          <p:cNvPr id="688" name="TextBox 14"/>
          <p:cNvSpPr txBox="1"/>
          <p:nvPr/>
        </p:nvSpPr>
        <p:spPr>
          <a:xfrm>
            <a:off x="571500" y="3810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The RailTel Difference</a:t>
            </a:r>
          </a:p>
        </p:txBody>
      </p:sp>
      <p:sp>
        <p:nvSpPr>
          <p:cNvPr id="689" name="Rectangle 15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0" name="TextBox 16"/>
          <p:cNvSpPr txBox="1"/>
          <p:nvPr/>
        </p:nvSpPr>
        <p:spPr>
          <a:xfrm>
            <a:off x="571500" y="1504950"/>
            <a:ext cx="11049000" cy="290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400"/>
              </a:lnSpc>
              <a:defRPr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From Connectivity to Digital Justice</a:t>
            </a:r>
          </a:p>
        </p:txBody>
      </p:sp>
      <p:sp>
        <p:nvSpPr>
          <p:cNvPr id="691" name="TextBox 17"/>
          <p:cNvSpPr txBox="1"/>
          <p:nvPr/>
        </p:nvSpPr>
        <p:spPr>
          <a:xfrm>
            <a:off x="749378" y="2400300"/>
            <a:ext cx="4930618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Traditional Technology Approach</a:t>
            </a:r>
          </a:p>
        </p:txBody>
      </p:sp>
      <p:sp>
        <p:nvSpPr>
          <p:cNvPr id="692" name="TextBox 18"/>
          <p:cNvSpPr txBox="1"/>
          <p:nvPr/>
        </p:nvSpPr>
        <p:spPr>
          <a:xfrm>
            <a:off x="866775" y="3019425"/>
            <a:ext cx="4695825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(Fragmented Silos)</a:t>
            </a:r>
          </a:p>
        </p:txBody>
      </p:sp>
      <p:sp>
        <p:nvSpPr>
          <p:cNvPr id="693" name="TextBox 19"/>
          <p:cNvSpPr txBox="1"/>
          <p:nvPr/>
        </p:nvSpPr>
        <p:spPr>
          <a:xfrm>
            <a:off x="6502003" y="2390775"/>
            <a:ext cx="4950619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RailTel Proposition</a:t>
            </a:r>
          </a:p>
        </p:txBody>
      </p:sp>
      <p:sp>
        <p:nvSpPr>
          <p:cNvPr id="694" name="TextBox 20"/>
          <p:cNvSpPr txBox="1"/>
          <p:nvPr/>
        </p:nvSpPr>
        <p:spPr>
          <a:xfrm>
            <a:off x="6619875" y="3009900"/>
            <a:ext cx="4714875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ONE TECHNOLOGY PARTNER</a:t>
            </a:r>
          </a:p>
        </p:txBody>
      </p:sp>
      <p:sp>
        <p:nvSpPr>
          <p:cNvPr id="695" name="Rectangle 21"/>
          <p:cNvSpPr/>
          <p:nvPr/>
        </p:nvSpPr>
        <p:spPr>
          <a:xfrm>
            <a:off x="6808440" y="5048250"/>
            <a:ext cx="4337596" cy="371475"/>
          </a:xfrm>
          <a:prstGeom prst="rect">
            <a:avLst/>
          </a:prstGeom>
          <a:solidFill>
            <a:srgbClr val="FF66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6" name="TextBox 22"/>
          <p:cNvSpPr txBox="1"/>
          <p:nvPr/>
        </p:nvSpPr>
        <p:spPr>
          <a:xfrm>
            <a:off x="6903690" y="5143500"/>
            <a:ext cx="4147096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Managed Services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50655" y="4463355"/>
            <a:ext cx="1690688" cy="933451"/>
          </a:xfrm>
          <a:prstGeom prst="rect">
            <a:avLst/>
          </a:prstGeom>
          <a:ln w="12700">
            <a:miter lim="400000"/>
          </a:ln>
        </p:spPr>
      </p:pic>
      <p:sp>
        <p:nvSpPr>
          <p:cNvPr id="699" name="TextBox 3"/>
          <p:cNvSpPr txBox="1"/>
          <p:nvPr/>
        </p:nvSpPr>
        <p:spPr>
          <a:xfrm>
            <a:off x="295275" y="1461194"/>
            <a:ext cx="1160145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5400">
                <a:solidFill>
                  <a:schemeClr val="accent1">
                    <a:satOff val="-4409"/>
                    <a:lumOff val="-10509"/>
                  </a:schemeClr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INTELLIGENT JUSTICE</a:t>
            </a:r>
          </a:p>
        </p:txBody>
      </p:sp>
      <p:sp>
        <p:nvSpPr>
          <p:cNvPr id="700" name="TextBox 4"/>
          <p:cNvSpPr txBox="1"/>
          <p:nvPr/>
        </p:nvSpPr>
        <p:spPr>
          <a:xfrm>
            <a:off x="1809750" y="2680393"/>
            <a:ext cx="8572500" cy="764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100"/>
              </a:lnSpc>
              <a:defRPr sz="1900">
                <a:solidFill>
                  <a:schemeClr val="accent1">
                    <a:satOff val="-4409"/>
                    <a:lumOff val="-10509"/>
                  </a:schemeClr>
                </a:solidFill>
                <a:latin typeface="Lato"/>
                <a:ea typeface="Lato"/>
                <a:cs typeface="Lato"/>
                <a:sym typeface="Lato"/>
              </a:defRPr>
            </a:lvl1pPr>
          </a:lstStyle>
          <a:p>
            <a:pPr/>
            <a:r>
              <a:t>Connect the Court. Digitize the Process. Secure the Data. Simplify the Workflow.</a:t>
            </a:r>
          </a:p>
        </p:txBody>
      </p:sp>
      <p:sp>
        <p:nvSpPr>
          <p:cNvPr id="701" name="Rectangle 5"/>
          <p:cNvSpPr/>
          <p:nvPr/>
        </p:nvSpPr>
        <p:spPr>
          <a:xfrm>
            <a:off x="5524500" y="3949005"/>
            <a:ext cx="1143000" cy="38101"/>
          </a:xfrm>
          <a:prstGeom prst="rect">
            <a:avLst/>
          </a:prstGeom>
          <a:solidFill>
            <a:srgbClr val="ED790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/>
                </a:solidFill>
              </a:defRPr>
            </a:pPr>
          </a:p>
        </p:txBody>
      </p:sp>
      <p:pic>
        <p:nvPicPr>
          <p:cNvPr id="702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12236" y="4097861"/>
            <a:ext cx="1567527" cy="10450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